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98cd48c3994f18" /><Relationship Type="http://schemas.openxmlformats.org/officeDocument/2006/relationships/extended-properties" Target="/docProps/app.xml" Id="Re2fe0add501341a7" /><Relationship Type="http://schemas.openxmlformats.org/officeDocument/2006/relationships/officeDocument" Target="/ppt/presentation.xml" Id="R79b5a4052666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15bdfd32a64bc8"/>
  </p:sldMasterIdLst>
  <p:notesMasterIdLst>
    <p:notesMasterId xmlns:r="http://schemas.openxmlformats.org/officeDocument/2006/relationships" r:id="Rdc607de9af9b4a28"/>
  </p:notesMasterIdLst>
  <p:sldIdLst>
    <p:sldId xmlns:r="http://schemas.openxmlformats.org/officeDocument/2006/relationships" id="256" r:id="R7d8843dea6fc41d5"/>
    <p:sldId xmlns:r="http://schemas.openxmlformats.org/officeDocument/2006/relationships" id="257" r:id="R57dd415a83ec4457"/>
    <p:sldId xmlns:r="http://schemas.openxmlformats.org/officeDocument/2006/relationships" id="258" r:id="Rd26fc2b18d7149e4"/>
    <p:sldId xmlns:r="http://schemas.openxmlformats.org/officeDocument/2006/relationships" id="259" r:id="R3fa9e2886099478d"/>
    <p:sldId xmlns:r="http://schemas.openxmlformats.org/officeDocument/2006/relationships" id="260" r:id="R49b15b5fd6914e9c"/>
    <p:sldId xmlns:r="http://schemas.openxmlformats.org/officeDocument/2006/relationships" id="261" r:id="R74b5df2244f44f8f"/>
    <p:sldId xmlns:r="http://schemas.openxmlformats.org/officeDocument/2006/relationships" id="262" r:id="R062dfc2cf6f24fea"/>
    <p:sldId xmlns:r="http://schemas.openxmlformats.org/officeDocument/2006/relationships" id="263" r:id="Re0bc23ea66054d18"/>
    <p:sldId xmlns:r="http://schemas.openxmlformats.org/officeDocument/2006/relationships" id="264" r:id="R85e97e8c521f40d1"/>
    <p:sldId xmlns:r="http://schemas.openxmlformats.org/officeDocument/2006/relationships" id="265" r:id="R2eed29228d7d49c6"/>
    <p:sldId xmlns:r="http://schemas.openxmlformats.org/officeDocument/2006/relationships" id="266" r:id="Rda78085fc2dc402c"/>
    <p:sldId xmlns:r="http://schemas.openxmlformats.org/officeDocument/2006/relationships" id="267" r:id="Rea443154ead04f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73858999a4d5e" /><Relationship Type="http://schemas.openxmlformats.org/officeDocument/2006/relationships/slideMaster" Target="/ppt/slideMasters/slideMaster1.xml" Id="R5915bdfd32a64bc8" /><Relationship Type="http://schemas.openxmlformats.org/officeDocument/2006/relationships/notesMaster" Target="/ppt/notesMasters/notesMaster1.xml" Id="Rdc607de9af9b4a28" /><Relationship Type="http://schemas.openxmlformats.org/officeDocument/2006/relationships/presProps" Target="/ppt/presProps.xml" Id="R46a91d731701493a" /><Relationship Type="http://schemas.openxmlformats.org/officeDocument/2006/relationships/tableStyles" Target="/ppt/tableStyles.xml" Id="Re36e7d4dae79447a" /><Relationship Type="http://schemas.openxmlformats.org/officeDocument/2006/relationships/slide" Target="/ppt/slides/slide1.xml" Id="R7d8843dea6fc41d5" /><Relationship Type="http://schemas.openxmlformats.org/officeDocument/2006/relationships/slide" Target="/ppt/slides/slide2.xml" Id="R57dd415a83ec4457" /><Relationship Type="http://schemas.openxmlformats.org/officeDocument/2006/relationships/slide" Target="/ppt/slides/slide3.xml" Id="Rd26fc2b18d7149e4" /><Relationship Type="http://schemas.openxmlformats.org/officeDocument/2006/relationships/slide" Target="/ppt/slides/slide4.xml" Id="R3fa9e2886099478d" /><Relationship Type="http://schemas.openxmlformats.org/officeDocument/2006/relationships/slide" Target="/ppt/slides/slide5.xml" Id="R49b15b5fd6914e9c" /><Relationship Type="http://schemas.openxmlformats.org/officeDocument/2006/relationships/slide" Target="/ppt/slides/slide6.xml" Id="R74b5df2244f44f8f" /><Relationship Type="http://schemas.openxmlformats.org/officeDocument/2006/relationships/slide" Target="/ppt/slides/slide7.xml" Id="R062dfc2cf6f24fea" /><Relationship Type="http://schemas.openxmlformats.org/officeDocument/2006/relationships/slide" Target="/ppt/slides/slide8.xml" Id="Re0bc23ea66054d18" /><Relationship Type="http://schemas.openxmlformats.org/officeDocument/2006/relationships/slide" Target="/ppt/slides/slide9.xml" Id="R85e97e8c521f40d1" /><Relationship Type="http://schemas.openxmlformats.org/officeDocument/2006/relationships/slide" Target="/ppt/slides/slide10.xml" Id="R2eed29228d7d49c6" /><Relationship Type="http://schemas.openxmlformats.org/officeDocument/2006/relationships/slide" Target="/ppt/slides/slide11.xml" Id="Rda78085fc2dc402c" /><Relationship Type="http://schemas.openxmlformats.org/officeDocument/2006/relationships/slide" Target="/ppt/slides/slide12.xml" Id="Rea443154ead0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4380a6e3f43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60a0b6e63426b" /><Relationship Type="http://schemas.openxmlformats.org/officeDocument/2006/relationships/notesMaster" Target="/ppt/notesMasters/notesMaster1.xml" Id="R44173f348998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45cc064844eb7" /><Relationship Type="http://schemas.openxmlformats.org/officeDocument/2006/relationships/notesMaster" Target="/ppt/notesMasters/notesMaster1.xml" Id="Rc89007723e3a4f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1c4a8c42f4f0a" /><Relationship Type="http://schemas.openxmlformats.org/officeDocument/2006/relationships/notesMaster" Target="/ppt/notesMasters/notesMaster1.xml" Id="R14d2615dbbd24a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fbc094e47490a" /><Relationship Type="http://schemas.openxmlformats.org/officeDocument/2006/relationships/notesMaster" Target="/ppt/notesMasters/notesMaster1.xml" Id="R7cada8733c2b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975466a12a43d4" /><Relationship Type="http://schemas.openxmlformats.org/officeDocument/2006/relationships/notesMaster" Target="/ppt/notesMasters/notesMaster1.xml" Id="R87f3d8e9f5ff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0931febc30493c" /><Relationship Type="http://schemas.openxmlformats.org/officeDocument/2006/relationships/notesMaster" Target="/ppt/notesMasters/notesMaster1.xml" Id="R0fcdbb23f27149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a56962975a447c" /><Relationship Type="http://schemas.openxmlformats.org/officeDocument/2006/relationships/notesMaster" Target="/ppt/notesMasters/notesMaster1.xml" Id="R70ced5cc87d940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7a166430c4496" /><Relationship Type="http://schemas.openxmlformats.org/officeDocument/2006/relationships/notesMaster" Target="/ppt/notesMasters/notesMaster1.xml" Id="Rd64f15b89adc4f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a62beea8ac4559" /><Relationship Type="http://schemas.openxmlformats.org/officeDocument/2006/relationships/notesMaster" Target="/ppt/notesMasters/notesMaster1.xml" Id="R1bbb8814638e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d2dea5389477f" /><Relationship Type="http://schemas.openxmlformats.org/officeDocument/2006/relationships/notesMaster" Target="/ppt/notesMasters/notesMaster1.xml" Id="Rab51725acd0e4a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1e195f6b4941ef" /><Relationship Type="http://schemas.openxmlformats.org/officeDocument/2006/relationships/notesMaster" Target="/ppt/notesMasters/notesMaster1.xml" Id="Re12f65f4567244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c2eb4b99024c9a" /><Relationship Type="http://schemas.openxmlformats.org/officeDocument/2006/relationships/notesMaster" Target="/ppt/notesMasters/notesMaster1.xml" Id="Rab353d4f626e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f160233a9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a325507524fda" /><Relationship Type="http://schemas.openxmlformats.org/officeDocument/2006/relationships/slideLayout" Target="/ppt/slideLayouts/slideLayout1.xml" Id="R01e33bb8abb8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33bb8abb8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ecb4586774fa6" /><Relationship Type="http://schemas.openxmlformats.org/officeDocument/2006/relationships/notesSlide" Target="/ppt/notesSlides/notesSlide1.xml" Id="Rd26b97e46d91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0004e3215451b" /><Relationship Type="http://schemas.openxmlformats.org/officeDocument/2006/relationships/notesSlide" Target="/ppt/notesSlides/notesSlide2.xml" Id="R10b1f06cf56140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2cc90b5804c8e" /><Relationship Type="http://schemas.openxmlformats.org/officeDocument/2006/relationships/notesSlide" Target="/ppt/notesSlides/notesSlide3.xml" Id="R3af8a2bf2aa0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d23ab306342df" /><Relationship Type="http://schemas.openxmlformats.org/officeDocument/2006/relationships/notesSlide" Target="/ppt/notesSlides/notesSlide4.xml" Id="R804c33027ccb40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a728790794c4e" /><Relationship Type="http://schemas.openxmlformats.org/officeDocument/2006/relationships/notesSlide" Target="/ppt/notesSlides/notesSlide5.xml" Id="Ra62ebe1428224c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631e03ee44cf4" /><Relationship Type="http://schemas.openxmlformats.org/officeDocument/2006/relationships/chart" Target="/ppt/slides/charts/chart1.xml" Id="R350fd2006e7546f8" /><Relationship Type="http://schemas.openxmlformats.org/officeDocument/2006/relationships/notesSlide" Target="/ppt/notesSlides/notesSlide6.xml" Id="R1bbf37e193184b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e54c50b6a4002" /><Relationship Type="http://schemas.openxmlformats.org/officeDocument/2006/relationships/notesSlide" Target="/ppt/notesSlides/notesSlide7.xml" Id="Rc8c0ab9a65b4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4876f97842bc" /><Relationship Type="http://schemas.openxmlformats.org/officeDocument/2006/relationships/notesSlide" Target="/ppt/notesSlides/notesSlide8.xml" Id="R20c9a821181744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a4a80b3b4f24" /><Relationship Type="http://schemas.openxmlformats.org/officeDocument/2006/relationships/chart" Target="/ppt/slides/charts/chart2.xml" Id="R3449abff2f244c04" /><Relationship Type="http://schemas.openxmlformats.org/officeDocument/2006/relationships/notesSlide" Target="/ppt/notesSlides/notesSlide9.xml" Id="R0a263ffaf06f46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d0a534d934066" /><Relationship Type="http://schemas.openxmlformats.org/officeDocument/2006/relationships/chart" Target="/ppt/slides/charts/chart3.xml" Id="R6c78f4fa6eee4a56" /><Relationship Type="http://schemas.openxmlformats.org/officeDocument/2006/relationships/notesSlide" Target="/ppt/notesSlides/notesSlide10.xml" Id="Rfc3edafe06684a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0b18183bc433e" /><Relationship Type="http://schemas.openxmlformats.org/officeDocument/2006/relationships/notesSlide" Target="/ppt/notesSlides/notesSlide11.xml" Id="R8d118aa0052245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d3bead2844888" /><Relationship Type="http://schemas.openxmlformats.org/officeDocument/2006/relationships/notesSlide" Target="/ppt/notesSlides/notesSlide12.xml" Id="R38b4c4c51522439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权重</c:v>
              </c:pt>
              <c:pt idx="1">
                <c:v>KV planner</c:v>
              </c:pt>
              <c:pt idx="2">
                <c:v>激活</c:v>
              </c:pt>
              <c:pt idx="3">
                <c:v>Runtime</c:v>
              </c:pt>
              <c:pt idx="4">
                <c:v>Workspace占位</c:v>
              </c:pt>
              <c:pt idx="5">
                <c:v>碎片+安全</c:v>
              </c:pt>
            </c:strLit>
          </c:cat>
          <c:val>
            <c:numLit>
              <c:formatCode>General</c:formatCode>
              <c:ptCount val="6"/>
              <c:pt idx="0">
                <c:v>18.28</c:v>
              </c:pt>
              <c:pt idx="1">
                <c:v>22.71</c:v>
              </c:pt>
              <c:pt idx="2">
                <c:v>2.62</c:v>
              </c:pt>
              <c:pt idx="3">
                <c:v>0.25</c:v>
              </c:pt>
              <c:pt idx="4">
                <c:v>2</c:v>
              </c:pt>
              <c:pt idx="5">
                <c:v>1.81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Q81920 / S1</c:v>
              </c:pt>
              <c:pt idx="1">
                <c:v>推荐 Q16384 / S2</c:v>
              </c:pt>
              <c:pt idx="2">
                <c:v>可用预算</c:v>
              </c:pt>
            </c:strLit>
          </c:cat>
          <c:val>
            <c:numLit>
              <c:formatCode>General</c:formatCode>
              <c:ptCount val="3"/>
              <c:pt idx="0">
                <c:v>92.55</c:v>
              </c:pt>
              <c:pt idx="1">
                <c:v>50.4</c:v>
              </c:pt>
              <c:pt idx="2">
                <c:v>57.6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1M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16384</c:v>
              </c:pt>
              <c:pt idx="1">
                <c:v>16384</c:v>
              </c:pt>
              <c:pt idx="2">
                <c:v>4096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ser>
          <c:idx val="1"/>
          <c:order val="1"/>
          <c:tx>
            <c:v>32K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32768</c:v>
              </c:pt>
              <c:pt idx="1">
                <c:v>32768</c:v>
              </c:pt>
              <c:pt idx="2">
                <c:v>32768</c:v>
              </c:pt>
              <c:pt idx="3">
                <c:v>32768</c:v>
              </c:pt>
              <c:pt idx="4">
                <c:v>16384</c:v>
              </c:pt>
              <c:pt idx="5">
                <c:v>16384</c:v>
              </c:pt>
              <c:pt idx="6">
                <c:v>4096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max_num_seqs / DP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6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 feasible Q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8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65FF9C-5682-428F-B407-50D6862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技术汇报｜vLLM Ascend · DeepSeek-V4-Flash · 910C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68AFAB-0754-4CB3-81C2-C86A99C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4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把配置调优变成
</a:t>
            </a:r>
            <a:r>
              <a:rPr sz="4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可解释的 HBM 容量推荐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177F21-7C6D-4148-921A-C17E43D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857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面向 max_num_batched_tokens / max_num_seqs 的峰值内存建模、边界搜索与规格推荐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61A4257-B70F-4F6F-AE52-4951D7F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19650"/>
            <a:ext cx="1657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E2BC19-1CC2-40C1-8DE4-199EBC5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HBM Modeling &amp; Configuration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12382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7F7EC0E5-F837-4BAB-83BB-F974A5A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单看“每 token 约 5 KB”会系统性低估峰值 HBM</a:t>
            </a:r>
          </a:p>
        </p:txBody>
      </p:sp>
      <p:sp>
        <p:nvSpPr>
          <p:cNvPr id="2" name="s2-message">
            <a:extLst xmlns:a="http://schemas.openxmlformats.org/drawingml/2006/main">
              <a:ext uri="{FF2B5EF4-FFF2-40B4-BE49-F238E27FC236}">
                <a16:creationId xmlns:a16="http://schemas.microsoft.com/office/drawing/2014/main" id="{E58EF79D-45F7-4AE9-B903-230B318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049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单位 KV 成本只是起点；</a:t>
            </a:r>
            <a:r>
              <a:rPr sz="25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1M 历史块、并发倍增和 prefill 瞬时内存</a:t>
            </a: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共同决定是否 OOM。</a:t>
            </a:r>
          </a:p>
        </p:txBody>
      </p:sp>
      <p:sp>
        <p:nvSpPr>
          <p:cNvPr id="3" name="s2-c1">
            <a:extLst xmlns:a="http://schemas.openxmlformats.org/drawingml/2006/main">
              <a:ext uri="{FF2B5EF4-FFF2-40B4-BE49-F238E27FC236}">
                <a16:creationId xmlns:a16="http://schemas.microsoft.com/office/drawing/2014/main" id="{DD20A493-9357-4D81-9732-B7E75E1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2-c2">
            <a:extLst xmlns:a="http://schemas.openxmlformats.org/drawingml/2006/main">
              <a:ext uri="{FF2B5EF4-FFF2-40B4-BE49-F238E27FC236}">
                <a16:creationId xmlns:a16="http://schemas.microsoft.com/office/drawing/2014/main" id="{1BDBE8B0-3A05-43E1-8A5B-4D41639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2-c3">
            <a:extLst xmlns:a="http://schemas.openxmlformats.org/drawingml/2006/main">
              <a:ext uri="{FF2B5EF4-FFF2-40B4-BE49-F238E27FC236}">
                <a16:creationId xmlns:a16="http://schemas.microsoft.com/office/drawing/2014/main" id="{E5AA571B-0D33-4471-9E73-B1B0A54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2-c1-text">
            <a:extLst xmlns:a="http://schemas.openxmlformats.org/drawingml/2006/main">
              <a:ext uri="{FF2B5EF4-FFF2-40B4-BE49-F238E27FC236}">
                <a16:creationId xmlns:a16="http://schemas.microsoft.com/office/drawing/2014/main" id="{769B07E7-88A9-4CBD-9CF9-F42EF64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L｜历史长度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历史 KV/state block 随有效上下文增长；并发序列会把历史容量成倍放大。</a:t>
            </a:r>
          </a:p>
        </p:txBody>
      </p:sp>
      <p:sp>
        <p:nvSpPr>
          <p:cNvPr id="7" name="s2-c2-text">
            <a:extLst xmlns:a="http://schemas.openxmlformats.org/drawingml/2006/main">
              <a:ext uri="{FF2B5EF4-FFF2-40B4-BE49-F238E27FC236}">
                <a16:creationId xmlns:a16="http://schemas.microsoft.com/office/drawing/2014/main" id="{2178F78F-9200-4D46-B0DC-A9D684F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Q｜批处理 token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max_num_batched_tokens 决定 prefill 激活、瞬态 KV/state 和输入缓冲峰值。</a:t>
            </a:r>
          </a:p>
        </p:txBody>
      </p:sp>
      <p:sp>
        <p:nvSpPr>
          <p:cNvPr id="8" name="s2-c3-text">
            <a:extLst xmlns:a="http://schemas.openxmlformats.org/drawingml/2006/main">
              <a:ext uri="{FF2B5EF4-FFF2-40B4-BE49-F238E27FC236}">
                <a16:creationId xmlns:a16="http://schemas.microsoft.com/office/drawing/2014/main" id="{A43100D9-73BC-4263-B634-F82C66B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S｜在途序列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max_num_seqs 决定一个 DP engine 同时保留多少条历史；它不能脱离长度单独推荐。</a:t>
            </a:r>
          </a:p>
        </p:txBody>
      </p:sp>
      <p:sp>
        <p:nvSpPr>
          <p:cNvPr id="9" name="s2-evidence">
            <a:extLst xmlns:a="http://schemas.openxmlformats.org/drawingml/2006/main">
              <a:ext uri="{FF2B5EF4-FFF2-40B4-BE49-F238E27FC236}">
                <a16:creationId xmlns:a16="http://schemas.microsoft.com/office/drawing/2014/main" id="{4AF7F60D-C8C7-4E82-8996-5456AD0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示例：Q=81,920、1M 上下文，即使只有 1 条长序列，规划上界约 92.55 GiB；而可用预算仅 57.60 GiB。</a:t>
            </a:r>
          </a:p>
        </p:txBody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625A115E-573D-477A-955B-7EA7839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来源：本项目计算器默认配置与 v0.20 KV/BlockPool 模型输出</a:t>
            </a:r>
          </a:p>
        </p:txBody>
      </p:sp>
      <p:sp>
        <p:nvSpPr>
          <p:cNvPr id="11" name="page-2">
            <a:extLst xmlns:a="http://schemas.openxmlformats.org/drawingml/2006/main">
              <a:ext uri="{FF2B5EF4-FFF2-40B4-BE49-F238E27FC236}">
                <a16:creationId xmlns:a16="http://schemas.microsoft.com/office/drawing/2014/main" id="{E39FF379-C165-48BA-8AC5-7A11C17D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1704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D5E16749-86CF-43F9-AC44-B6A80E7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峰值 HBM 拆成七类来源，并区分实际张量与规划容量</a:t>
            </a:r>
          </a:p>
        </p:txBody>
      </p:sp>
      <p:sp>
        <p:nvSpPr>
          <p:cNvPr id="2" name="s3-formula">
            <a:extLst xmlns:a="http://schemas.openxmlformats.org/drawingml/2006/main">
              <a:ext uri="{FF2B5EF4-FFF2-40B4-BE49-F238E27FC236}">
                <a16:creationId xmlns:a16="http://schemas.microsoft.com/office/drawing/2014/main" id="{46D80802-41DA-4B69-9D29-42A04307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Total HBM = 权重 + KV/state + 激活 + Workspace + Graph + Runtime + 碎片/安全余量</a:t>
            </a:r>
          </a:p>
        </p:txBody>
      </p:sp>
      <p:cxnSp>
        <p:nvCxnSpPr>
          <p:cNvPr id="22" name="s3-a1"/>
          <p:cNvCxnSpPr/>
          <p:nvPr/>
        </p:nvCxnSpPr>
        <p:spPr>
          <a:xfrm xmlns:a="http://schemas.openxmlformats.org/drawingml/2006/main">
            <a:off x="2019300" y="3028950"/>
            <a:ext cx="9334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3" name="s3-a2"/>
          <p:cNvCxnSpPr/>
          <p:nvPr/>
        </p:nvCxnSpPr>
        <p:spPr>
          <a:xfrm xmlns:a="http://schemas.openxmlformats.org/drawingml/2006/main">
            <a:off x="5905500" y="302895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4" name="s3-a3"/>
          <p:cNvCxnSpPr/>
          <p:nvPr/>
        </p:nvCxnSpPr>
        <p:spPr>
          <a:xfrm xmlns:a="http://schemas.openxmlformats.org/drawingml/2006/main">
            <a:off x="9525000" y="3028950"/>
            <a:ext cx="8572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s3-input">
            <a:extLst xmlns:a="http://schemas.openxmlformats.org/drawingml/2006/main">
              <a:ext uri="{FF2B5EF4-FFF2-40B4-BE49-F238E27FC236}">
                <a16:creationId xmlns:a16="http://schemas.microsoft.com/office/drawing/2014/main" id="{C706EF8E-08C1-4182-89B7-FFFF3A5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3-components">
            <a:extLst xmlns:a="http://schemas.openxmlformats.org/drawingml/2006/main">
              <a:ext uri="{FF2B5EF4-FFF2-40B4-BE49-F238E27FC236}">
                <a16:creationId xmlns:a16="http://schemas.microsoft.com/office/drawing/2014/main" id="{15D0883B-49AE-4256-A80D-5C6D275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3-total">
            <a:extLst xmlns:a="http://schemas.openxmlformats.org/drawingml/2006/main">
              <a:ext uri="{FF2B5EF4-FFF2-40B4-BE49-F238E27FC236}">
                <a16:creationId xmlns:a16="http://schemas.microsoft.com/office/drawing/2014/main" id="{91E32E50-5001-41F7-A17C-D0D2E86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3-fit">
            <a:extLst xmlns:a="http://schemas.openxmlformats.org/drawingml/2006/main">
              <a:ext uri="{FF2B5EF4-FFF2-40B4-BE49-F238E27FC236}">
                <a16:creationId xmlns:a16="http://schemas.microsoft.com/office/drawing/2014/main" id="{7DE97382-8E97-4047-B6E4-61A31E9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140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3-input-text">
            <a:extLst xmlns:a="http://schemas.openxmlformats.org/drawingml/2006/main">
              <a:ext uri="{FF2B5EF4-FFF2-40B4-BE49-F238E27FC236}">
                <a16:creationId xmlns:a16="http://schemas.microsoft.com/office/drawing/2014/main" id="{C01F9731-B2EE-47BE-B15D-494B2ED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123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输入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硬件
模型
并行
运行配置</a:t>
            </a:r>
          </a:p>
        </p:txBody>
      </p:sp>
      <p:sp>
        <p:nvSpPr>
          <p:cNvPr id="11" name="s3-comp-text">
            <a:extLst xmlns:a="http://schemas.openxmlformats.org/drawingml/2006/main">
              <a:ext uri="{FF2B5EF4-FFF2-40B4-BE49-F238E27FC236}">
                <a16:creationId xmlns:a16="http://schemas.microsoft.com/office/drawing/2014/main" id="{315C3A15-8966-4A8E-A3EA-10B772B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28850"/>
            <a:ext cx="2381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内存组件模型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可解析：权重 / KV 页面
结构估算：激活 / Runtime
需校准：Workspace / Graph</a:t>
            </a:r>
          </a:p>
        </p:txBody>
      </p:sp>
      <p:sp>
        <p:nvSpPr>
          <p:cNvPr id="12" name="s3-total-text">
            <a:extLst xmlns:a="http://schemas.openxmlformats.org/drawingml/2006/main">
              <a:ext uri="{FF2B5EF4-FFF2-40B4-BE49-F238E27FC236}">
                <a16:creationId xmlns:a16="http://schemas.microsoft.com/office/drawing/2014/main" id="{4EF24BEC-D800-4A4E-AE51-460AA09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21526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两套容量口径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Actual：physical KV 张量
Planning：替换为 BlockPool planner 容量
Upper：叠加组件不确定性</a:t>
            </a:r>
          </a:p>
        </p:txBody>
      </p:sp>
      <p:sp>
        <p:nvSpPr>
          <p:cNvPr id="13" name="s3-fit-text">
            <a:extLst xmlns:a="http://schemas.openxmlformats.org/drawingml/2006/main">
              <a:ext uri="{FF2B5EF4-FFF2-40B4-BE49-F238E27FC236}">
                <a16:creationId xmlns:a16="http://schemas.microsoft.com/office/drawing/2014/main" id="{4E694968-D575-473E-AB81-C063DDB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95550"/>
            <a:ext cx="1066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6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可行性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预算
上界
余量</a:t>
            </a:r>
          </a:p>
        </p:txBody>
      </p:sp>
      <p:sp>
        <p:nvSpPr>
          <p:cNvPr id="14" name="s3-actual">
            <a:extLst xmlns:a="http://schemas.openxmlformats.org/drawingml/2006/main">
              <a:ext uri="{FF2B5EF4-FFF2-40B4-BE49-F238E27FC236}">
                <a16:creationId xmlns:a16="http://schemas.microsoft.com/office/drawing/2014/main" id="{3200BCB0-4F9A-4C14-B135-863AACF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s3-planning">
            <a:extLst xmlns:a="http://schemas.openxmlformats.org/drawingml/2006/main">
              <a:ext uri="{FF2B5EF4-FFF2-40B4-BE49-F238E27FC236}">
                <a16:creationId xmlns:a16="http://schemas.microsoft.com/office/drawing/2014/main" id="{F2B67158-DB30-477A-B77B-115411B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43450"/>
            <a:ext cx="4343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s3-actual-text">
            <a:extLst xmlns:a="http://schemas.openxmlformats.org/drawingml/2006/main">
              <a:ext uri="{FF2B5EF4-FFF2-40B4-BE49-F238E27FC236}">
                <a16:creationId xmlns:a16="http://schemas.microsoft.com/office/drawing/2014/main" id="{95F00F32-0DCB-4563-952D-7CCC2A3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72050"/>
            <a:ext cx="3733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实际峰值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KV + 非 KV + fragmentation + safety</a:t>
            </a:r>
          </a:p>
        </p:txBody>
      </p:sp>
      <p:sp>
        <p:nvSpPr>
          <p:cNvPr id="17" name="s3-planning-text">
            <a:extLst xmlns:a="http://schemas.openxmlformats.org/drawingml/2006/main">
              <a:ext uri="{FF2B5EF4-FFF2-40B4-BE49-F238E27FC236}">
                <a16:creationId xmlns:a16="http://schemas.microsoft.com/office/drawing/2014/main" id="{185A50BC-3A64-4B8F-83BC-A0A0007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72050"/>
            <a:ext cx="3886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规划峰值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actual − physical KV + planner KV</a:t>
            </a:r>
          </a:p>
        </p:txBody>
      </p:sp>
      <p:sp>
        <p:nvSpPr>
          <p:cNvPr id="18" name="source-3">
            <a:extLst xmlns:a="http://schemas.openxmlformats.org/drawingml/2006/main">
              <a:ext uri="{FF2B5EF4-FFF2-40B4-BE49-F238E27FC236}">
                <a16:creationId xmlns:a16="http://schemas.microsoft.com/office/drawing/2014/main" id="{890C1FDB-A159-4C63-939E-0482032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方法口径：per logical NPU/die；HBM budget = physical HBM × gpu_memory_utilization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28347E7B-6451-4817-9BCA-9A24EC9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762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994F23DB-2E87-43C6-86B2-D6B8897A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推荐所需输入可归结为四组：硬件、模型、并行与运行场景</a:t>
            </a:r>
          </a:p>
        </p:txBody>
      </p:sp>
      <p:sp>
        <p:nvSpPr>
          <p:cNvPr id="2" name="s4-vline">
            <a:extLst xmlns:a="http://schemas.openxmlformats.org/drawingml/2006/main">
              <a:ext uri="{FF2B5EF4-FFF2-40B4-BE49-F238E27FC236}">
                <a16:creationId xmlns:a16="http://schemas.microsoft.com/office/drawing/2014/main" id="{89569634-D643-4525-B692-5C3C0E7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4-hline">
            <a:extLst xmlns:a="http://schemas.openxmlformats.org/drawingml/2006/main">
              <a:ext uri="{FF2B5EF4-FFF2-40B4-BE49-F238E27FC236}">
                <a16:creationId xmlns:a16="http://schemas.microsoft.com/office/drawing/2014/main" id="{528327C4-8590-4E8A-B77C-F6805B4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4-1">
            <a:extLst xmlns:a="http://schemas.openxmlformats.org/drawingml/2006/main">
              <a:ext uri="{FF2B5EF4-FFF2-40B4-BE49-F238E27FC236}">
                <a16:creationId xmlns:a16="http://schemas.microsoft.com/office/drawing/2014/main" id="{2C8DD122-E636-4F51-9F30-6F8304B5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01  硬件预算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每个可见 die 的 HBM 容量
gpu_memory_utilization
设备与 vLLM Ascend 版本</a:t>
            </a:r>
          </a:p>
        </p:txBody>
      </p:sp>
      <p:sp>
        <p:nvSpPr>
          <p:cNvPr id="5" name="s4-2">
            <a:extLst xmlns:a="http://schemas.openxmlformats.org/drawingml/2006/main">
              <a:ext uri="{FF2B5EF4-FFF2-40B4-BE49-F238E27FC236}">
                <a16:creationId xmlns:a16="http://schemas.microsoft.com/office/drawing/2014/main" id="{AC7E3C59-7ACB-4983-8A04-1AC7C69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02  模型与权重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层数、hidden、attention、MoE、MTP
量化位宽与 safetensors 路径
实测 per-rank 权重覆盖</a:t>
            </a:r>
          </a:p>
        </p:txBody>
      </p:sp>
      <p:sp>
        <p:nvSpPr>
          <p:cNvPr id="6" name="s4-3">
            <a:extLst xmlns:a="http://schemas.openxmlformats.org/drawingml/2006/main">
              <a:ext uri="{FF2B5EF4-FFF2-40B4-BE49-F238E27FC236}">
                <a16:creationId xmlns:a16="http://schemas.microsoft.com/office/drawing/2014/main" id="{B22C0236-87F2-42FF-89E3-9FEEC68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03  并行切分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DP / TP / PP / EP
PCP / DCP 对每 rank token 与 KV 页面影响
DP 复制权重、分散全局并发</a:t>
            </a:r>
          </a:p>
        </p:txBody>
      </p:sp>
      <p:sp>
        <p:nvSpPr>
          <p:cNvPr id="7" name="s4-4">
            <a:extLst xmlns:a="http://schemas.openxmlformats.org/drawingml/2006/main">
              <a:ext uri="{FF2B5EF4-FFF2-40B4-BE49-F238E27FC236}">
                <a16:creationId xmlns:a16="http://schemas.microsoft.com/office/drawing/2014/main" id="{0C6069DC-E17B-431A-98FF-00847CF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04  调度与业务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block_size / max_model_len
Q、S 候选集合与目标函数
典型长度和最坏长度场景</a:t>
            </a:r>
          </a:p>
        </p:txBody>
      </p:sp>
      <p:sp>
        <p:nvSpPr>
          <p:cNvPr id="8" name="s4-note">
            <a:extLst xmlns:a="http://schemas.openxmlformats.org/drawingml/2006/main">
              <a:ext uri="{FF2B5EF4-FFF2-40B4-BE49-F238E27FC236}">
                <a16:creationId xmlns:a16="http://schemas.microsoft.com/office/drawing/2014/main" id="{2867454F-511B-44DD-BB39-A53EBA1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JSON 输入 → 可复现计算 → 直接输出 vLLM 启动参数与备选边界</a:t>
            </a:r>
          </a:p>
        </p:txBody>
      </p:sp>
      <p:sp>
        <p:nvSpPr>
          <p:cNvPr id="9" name="source-4">
            <a:extLst xmlns:a="http://schemas.openxmlformats.org/drawingml/2006/main">
              <a:ext uri="{FF2B5EF4-FFF2-40B4-BE49-F238E27FC236}">
                <a16:creationId xmlns:a16="http://schemas.microsoft.com/office/drawing/2014/main" id="{68A9773B-81C8-40C4-88F5-CD60646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当前内置模型 profile：DeepSeek-V4-Flash；其他模型需补充对应 KV/激活 profile</a:t>
            </a:r>
          </a:p>
        </p:txBody>
      </p:sp>
      <p:sp>
        <p:nvSpPr>
          <p:cNvPr id="10" name="page-4">
            <a:extLst xmlns:a="http://schemas.openxmlformats.org/drawingml/2006/main">
              <a:ext uri="{FF2B5EF4-FFF2-40B4-BE49-F238E27FC236}">
                <a16:creationId xmlns:a16="http://schemas.microsoft.com/office/drawing/2014/main" id="{0BD4F0B1-99FB-427B-8EA6-77C440F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9446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KV 必须按 vLLM BlockPool 的异构页面、对齐和规划口径计算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9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一个 global block 不是单一 KV tensor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History KV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长上下文主项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SWA cache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局部窗口页面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压缩状态页面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对齐后的大状态页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Prefill / MTP transient pages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由 Q 与并行切分驱动的瞬时容量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v0.20 / A3 / block_size=128 / MTP1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3,380,736 B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bytes / global block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3,397,376 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planner bytes / global block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差值 16,640 B / block</a:t>
            </a: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 会随 global block 数累积；容量判断必须使用 planner 口径。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来源：DeepSeek-V4 技术报告；vLLM Ascend v0.20 BlockPool/KV 结构模型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1D8AAEC-06D9-4A37-B529-775F69A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非 KV 内存决定真正可留给 BlockPool 的空间，不能只算 cache</a:t>
            </a:r>
          </a:p>
        </p:txBody>
      </p:sp>
      <p:sp>
        <p:nvSpPr>
          <p:cNvPr id="2" name="s6-chart-label">
            <a:extLst xmlns:a="http://schemas.openxmlformats.org/drawingml/2006/main">
              <a:ext uri="{FF2B5EF4-FFF2-40B4-BE49-F238E27FC236}">
                <a16:creationId xmlns:a16="http://schemas.microsoft.com/office/drawing/2014/main" id="{EF3EAFB9-48AD-488A-88AF-15EA5C1B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推荐点的中心规划量分解（GiB / die）</a:t>
            </a:r>
          </a:p>
        </p:txBody>
      </p:sp>
      <p:sp>
        <p:nvSpPr>
          <p:cNvPr id="3" name="s6-card1">
            <a:extLst xmlns:a="http://schemas.openxmlformats.org/drawingml/2006/main">
              <a:ext uri="{FF2B5EF4-FFF2-40B4-BE49-F238E27FC236}">
                <a16:creationId xmlns:a16="http://schemas.microsoft.com/office/drawing/2014/main" id="{FF050E80-0C69-4170-93B8-BF7DF3E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6-card2">
            <a:extLst xmlns:a="http://schemas.openxmlformats.org/drawingml/2006/main">
              <a:ext uri="{FF2B5EF4-FFF2-40B4-BE49-F238E27FC236}">
                <a16:creationId xmlns:a16="http://schemas.microsoft.com/office/drawing/2014/main" id="{9A6A83F7-AA66-47C3-AF3D-10B85D8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6-card3">
            <a:extLst xmlns:a="http://schemas.openxmlformats.org/drawingml/2006/main">
              <a:ext uri="{FF2B5EF4-FFF2-40B4-BE49-F238E27FC236}">
                <a16:creationId xmlns:a16="http://schemas.microsoft.com/office/drawing/2014/main" id="{A60E1DC7-3A7C-4A3F-B243-F048323F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6-card1-t">
            <a:extLst xmlns:a="http://schemas.openxmlformats.org/drawingml/2006/main">
              <a:ext uri="{FF2B5EF4-FFF2-40B4-BE49-F238E27FC236}">
                <a16:creationId xmlns:a16="http://schemas.microsoft.com/office/drawing/2014/main" id="{6987CB5F-E9A4-40EE-B8E1-F6479A5C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权重 18.28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可由启动 profile、手工值或 safetensors header 解析；DP 不切分权重。</a:t>
            </a:r>
          </a:p>
        </p:txBody>
      </p:sp>
      <p:sp>
        <p:nvSpPr>
          <p:cNvPr id="7" name="s6-card2-t">
            <a:extLst xmlns:a="http://schemas.openxmlformats.org/drawingml/2006/main">
              <a:ext uri="{FF2B5EF4-FFF2-40B4-BE49-F238E27FC236}">
                <a16:creationId xmlns:a16="http://schemas.microsoft.com/office/drawing/2014/main" id="{746302A7-0357-491C-A922-E3662F8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激活 2.62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按 mHC、attention、MoE 分支和生命周期重叠建模，可由 profile 校准。</a:t>
            </a:r>
          </a:p>
        </p:txBody>
      </p:sp>
      <p:sp>
        <p:nvSpPr>
          <p:cNvPr id="8" name="s6-card3-t">
            <a:extLst xmlns:a="http://schemas.openxmlformats.org/drawingml/2006/main">
              <a:ext uri="{FF2B5EF4-FFF2-40B4-BE49-F238E27FC236}">
                <a16:creationId xmlns:a16="http://schemas.microsoft.com/office/drawing/2014/main" id="{67179ED3-2D08-402C-8A54-487B5DE5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未知 Workspace 先占 2.00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占位不是芯片常数；上线前需用 CANN kernel query 或峰值差分替换。</a:t>
            </a:r>
          </a:p>
        </p:txBody>
      </p:sp>
      <p:sp>
        <p:nvSpPr>
          <p:cNvPr id="9" name="s6-values">
            <a:extLst xmlns:a="http://schemas.openxmlformats.org/drawingml/2006/main">
              <a:ext uri="{FF2B5EF4-FFF2-40B4-BE49-F238E27FC236}">
                <a16:creationId xmlns:a16="http://schemas.microsoft.com/office/drawing/2014/main" id="{E5D85BB8-844A-4348-B57F-1EEBC42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1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 18.28 ｜ KV 22.71 ｜ 激活 2.62 ｜ Runtime 0.25 ｜ Workspace 2.00 ｜ 碎片+安全 1.81</a:t>
            </a:r>
          </a:p>
        </p:txBody>
      </p:sp>
      <p:sp>
        <p:nvSpPr>
          <p:cNvPr id="10" name="s6-total">
            <a:extLst xmlns:a="http://schemas.openxmlformats.org/drawingml/2006/main">
              <a:ext uri="{FF2B5EF4-FFF2-40B4-BE49-F238E27FC236}">
                <a16:creationId xmlns:a16="http://schemas.microsoft.com/office/drawing/2014/main" id="{D42B4FA6-4454-431C-B07C-F86984A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14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Planning 47.67 GiB ｜ Upper 50.40 GiB ｜ 预算 57.60 GiB</a:t>
            </a:r>
          </a:p>
        </p:txBody>
      </p:sp>
      <p:sp>
        <p:nvSpPr>
          <p:cNvPr id="11" name="source-6">
            <a:extLst xmlns:a="http://schemas.openxmlformats.org/drawingml/2006/main">
              <a:ext uri="{FF2B5EF4-FFF2-40B4-BE49-F238E27FC236}">
                <a16:creationId xmlns:a16="http://schemas.microsoft.com/office/drawing/2014/main" id="{F5EBA152-FCDD-475A-A19E-EC7C796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示例配置：64 GiB/die，utilization=0.9，DP4/TP4/EP16，Q=16,384，S=2，1M 场景</a:t>
            </a:r>
          </a:p>
        </p:txBody>
      </p:sp>
      <p:sp>
        <p:nvSpPr>
          <p:cNvPr id="12" name="page-6">
            <a:extLst xmlns:a="http://schemas.openxmlformats.org/drawingml/2006/main">
              <a:ext uri="{FF2B5EF4-FFF2-40B4-BE49-F238E27FC236}">
                <a16:creationId xmlns:a16="http://schemas.microsoft.com/office/drawing/2014/main" id="{54616507-8DCF-424F-AB90-7DDCE86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3627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0fd2006e7546f8"/>
          </a:graphicData>
        </a:graphic>
      </p:graphicFrame>
    </p:spTree>
    <p:extLst>
      <p:ext uri="{BB962C8B-B14F-4D97-AF65-F5344CB8AC3E}">
        <p14:creationId xmlns:p14="http://schemas.microsoft.com/office/powerpoint/2010/main" val="2116752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F73B38D-7B13-419D-9FC2-936CFAD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推荐算法不是寻找“最大值”，而是在安全边界内平衡 Q 与 S</a:t>
            </a:r>
          </a:p>
        </p:txBody>
      </p:sp>
      <p:cxnSp>
        <p:nvCxnSpPr>
          <p:cNvPr id="18" name="s7-a1"/>
          <p:cNvCxnSpPr/>
          <p:nvPr/>
        </p:nvCxnSpPr>
        <p:spPr>
          <a:xfrm xmlns:a="http://schemas.openxmlformats.org/drawingml/2006/main">
            <a:off x="26670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19" name="s7-a2"/>
          <p:cNvCxnSpPr/>
          <p:nvPr/>
        </p:nvCxnSpPr>
        <p:spPr>
          <a:xfrm xmlns:a="http://schemas.openxmlformats.org/drawingml/2006/main">
            <a:off x="56007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0" name="s7-a3"/>
          <p:cNvCxnSpPr/>
          <p:nvPr/>
        </p:nvCxnSpPr>
        <p:spPr>
          <a:xfrm xmlns:a="http://schemas.openxmlformats.org/drawingml/2006/main">
            <a:off x="85344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s7-b1">
            <a:extLst xmlns:a="http://schemas.openxmlformats.org/drawingml/2006/main">
              <a:ext uri="{FF2B5EF4-FFF2-40B4-BE49-F238E27FC236}">
                <a16:creationId xmlns:a16="http://schemas.microsoft.com/office/drawing/2014/main" id="{B9E0295A-D7F0-4D3F-8102-8373320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7-b2">
            <a:extLst xmlns:a="http://schemas.openxmlformats.org/drawingml/2006/main">
              <a:ext uri="{FF2B5EF4-FFF2-40B4-BE49-F238E27FC236}">
                <a16:creationId xmlns:a16="http://schemas.microsoft.com/office/drawing/2014/main" id="{54018F2D-ACA9-470A-93C8-BADC703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7-b3">
            <a:extLst xmlns:a="http://schemas.openxmlformats.org/drawingml/2006/main">
              <a:ext uri="{FF2B5EF4-FFF2-40B4-BE49-F238E27FC236}">
                <a16:creationId xmlns:a16="http://schemas.microsoft.com/office/drawing/2014/main" id="{C0EC8943-F82D-43CB-9EA0-85BF8E5A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7-b4">
            <a:extLst xmlns:a="http://schemas.openxmlformats.org/drawingml/2006/main">
              <a:ext uri="{FF2B5EF4-FFF2-40B4-BE49-F238E27FC236}">
                <a16:creationId xmlns:a16="http://schemas.microsoft.com/office/drawing/2014/main" id="{F92C41F5-4B37-4EA7-B9DC-B768BA8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857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7-t1">
            <a:extLst xmlns:a="http://schemas.openxmlformats.org/drawingml/2006/main">
              <a:ext uri="{FF2B5EF4-FFF2-40B4-BE49-F238E27FC236}">
                <a16:creationId xmlns:a16="http://schemas.microsoft.com/office/drawing/2014/main" id="{A5961176-8C01-4DE1-BE36-BC4F3F9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809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枚举候选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遍历 Q × S × context_len；拒绝 Q &lt; S 的无效组合。</a:t>
            </a:r>
          </a:p>
        </p:txBody>
      </p:sp>
      <p:sp>
        <p:nvSpPr>
          <p:cNvPr id="10" name="s7-t2">
            <a:extLst xmlns:a="http://schemas.openxmlformats.org/drawingml/2006/main">
              <a:ext uri="{FF2B5EF4-FFF2-40B4-BE49-F238E27FC236}">
                <a16:creationId xmlns:a16="http://schemas.microsoft.com/office/drawing/2014/main" id="{2B0301FE-6BEA-4670-AAFE-C6A3F394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计算峰值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复用六类组件模型，计算 physical、planning 与 upper 三种口径。</a:t>
            </a:r>
          </a:p>
        </p:txBody>
      </p:sp>
      <p:sp>
        <p:nvSpPr>
          <p:cNvPr id="11" name="s7-t3">
            <a:extLst xmlns:a="http://schemas.openxmlformats.org/drawingml/2006/main">
              <a:ext uri="{FF2B5EF4-FFF2-40B4-BE49-F238E27FC236}">
                <a16:creationId xmlns:a16="http://schemas.microsoft.com/office/drawing/2014/main" id="{67806E61-D3C5-486E-B5F6-6A1730A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安全筛选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Planning upper + minimum headroom ≤ HBM × utilization</a:t>
            </a:r>
          </a:p>
        </p:txBody>
      </p:sp>
      <p:sp>
        <p:nvSpPr>
          <p:cNvPr id="12" name="s7-t4">
            <a:extLst xmlns:a="http://schemas.openxmlformats.org/drawingml/2006/main">
              <a:ext uri="{FF2B5EF4-FFF2-40B4-BE49-F238E27FC236}">
                <a16:creationId xmlns:a16="http://schemas.microsoft.com/office/drawing/2014/main" id="{E1A8448E-9B8D-4B40-B8CD-7F175B2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2324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4  目标评分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 Q、S 做对数归一化；支持 balanced、prefill 和 concurrency。</a:t>
            </a:r>
          </a:p>
        </p:txBody>
      </p:sp>
      <p:sp>
        <p:nvSpPr>
          <p:cNvPr id="13" name="s7-formula">
            <a:extLst xmlns:a="http://schemas.openxmlformats.org/drawingml/2006/main">
              <a:ext uri="{FF2B5EF4-FFF2-40B4-BE49-F238E27FC236}">
                <a16:creationId xmlns:a16="http://schemas.microsoft.com/office/drawing/2014/main" id="{252E87D8-F08E-44F6-AFD7-5D730BA1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4" name="s7-formula-t">
            <a:extLst xmlns:a="http://schemas.openxmlformats.org/drawingml/2006/main">
              <a:ext uri="{FF2B5EF4-FFF2-40B4-BE49-F238E27FC236}">
                <a16:creationId xmlns:a16="http://schemas.microsoft.com/office/drawing/2014/main" id="{27586A88-4A4B-410C-8120-20AD455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score = 100 × [ wQ · norm(Q) + wS · norm(S) ]</a:t>
            </a:r>
          </a:p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默认 balanced：wQ = wS = 0.5。分数表达配置偏好，不替代真实 TTFT / TPOT / 吞吐压测。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4A2B87C6-3DC3-47FC-B7F0-E2BF1F80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输出同时给出全场景统一推荐、各场景独立推荐、Top-K 备选和双向 frontier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8907E5B2-CD48-479D-B0FD-8481F7C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50903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24BDF036-8D39-42D5-B763-2E3A482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同一块 64 GiB HBM，对 1M 与 32K 请求给出截然不同的并发上限</a:t>
            </a:r>
          </a:p>
        </p:txBody>
      </p:sp>
      <p:sp>
        <p:nvSpPr>
          <p:cNvPr id="2" name="s8-intro">
            <a:extLst xmlns:a="http://schemas.openxmlformats.org/drawingml/2006/main">
              <a:ext uri="{FF2B5EF4-FFF2-40B4-BE49-F238E27FC236}">
                <a16:creationId xmlns:a16="http://schemas.microsoft.com/office/drawing/2014/main" id="{02DD8F5D-4989-4B70-A566-BB0137E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04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 在两个场景均为 16,384；真正拉开配置的是每个 DP engine 可同时保留的历史序列数。</a:t>
            </a:r>
          </a:p>
        </p:txBody>
      </p:sp>
      <p:sp>
        <p:nvSpPr>
          <p:cNvPr id="3" name="s8-left">
            <a:extLst xmlns:a="http://schemas.openxmlformats.org/drawingml/2006/main">
              <a:ext uri="{FF2B5EF4-FFF2-40B4-BE49-F238E27FC236}">
                <a16:creationId xmlns:a16="http://schemas.microsoft.com/office/drawing/2014/main" id="{18C01E1C-1317-490A-B335-D483210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8-right">
            <a:extLst xmlns:a="http://schemas.openxmlformats.org/drawingml/2006/main">
              <a:ext uri="{FF2B5EF4-FFF2-40B4-BE49-F238E27FC236}">
                <a16:creationId xmlns:a16="http://schemas.microsoft.com/office/drawing/2014/main" id="{93E1FF0B-C873-41BE-BD9C-312B3417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1F394A39-641F-4109-BC13-C39ED78C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最坏长度</a:t>
            </a:r>
          </a:p>
        </p:txBody>
      </p:sp>
      <p:sp>
        <p:nvSpPr>
          <p:cNvPr id="6" name="s8-left-stat">
            <a:extLst xmlns:a="http://schemas.openxmlformats.org/drawingml/2006/main">
              <a:ext uri="{FF2B5EF4-FFF2-40B4-BE49-F238E27FC236}">
                <a16:creationId xmlns:a16="http://schemas.microsoft.com/office/drawing/2014/main" id="{F61EF79B-71D0-4CF5-9AAB-34C06EA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2</a:t>
            </a:r>
          </a:p>
        </p:txBody>
      </p:sp>
      <p:sp>
        <p:nvSpPr>
          <p:cNvPr id="7" name="s8-left-detail">
            <a:extLst xmlns:a="http://schemas.openxmlformats.org/drawingml/2006/main">
              <a:ext uri="{FF2B5EF4-FFF2-40B4-BE49-F238E27FC236}">
                <a16:creationId xmlns:a16="http://schemas.microsoft.com/office/drawing/2014/main" id="{6AEB40CE-D8FE-4299-841F-312A49F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50.40 GiB
Fit-basis headroom 7.20 GiB</a:t>
            </a:r>
          </a:p>
        </p:txBody>
      </p:sp>
      <p:sp>
        <p:nvSpPr>
          <p:cNvPr id="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90F27A2C-77FF-4294-A1F0-6D1C514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典型长度</a:t>
            </a:r>
          </a:p>
        </p:txBody>
      </p:sp>
      <p:sp>
        <p:nvSpPr>
          <p:cNvPr id="9" name="s8-right-stat">
            <a:extLst xmlns:a="http://schemas.openxmlformats.org/drawingml/2006/main">
              <a:ext uri="{FF2B5EF4-FFF2-40B4-BE49-F238E27FC236}">
                <a16:creationId xmlns:a16="http://schemas.microsoft.com/office/drawing/2014/main" id="{68EEA87D-4CC3-4D2B-83A7-16FD607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32</a:t>
            </a:r>
          </a:p>
        </p:txBody>
      </p:sp>
      <p:sp>
        <p:nvSpPr>
          <p:cNvPr id="10" name="s8-right-detail">
            <a:extLst xmlns:a="http://schemas.openxmlformats.org/drawingml/2006/main">
              <a:ext uri="{FF2B5EF4-FFF2-40B4-BE49-F238E27FC236}">
                <a16:creationId xmlns:a16="http://schemas.microsoft.com/office/drawing/2014/main" id="{515A6B8F-D2B4-42D4-976C-01753A5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50.19 GiB
Fit-basis headroom 7.41 GiB</a:t>
            </a:r>
          </a:p>
        </p:txBody>
      </p:sp>
      <p:sp>
        <p:nvSpPr>
          <p:cNvPr id="11" name="s8-bottom">
            <a:extLst xmlns:a="http://schemas.openxmlformats.org/drawingml/2006/main">
              <a:ext uri="{FF2B5EF4-FFF2-40B4-BE49-F238E27FC236}">
                <a16:creationId xmlns:a16="http://schemas.microsoft.com/office/drawing/2014/main" id="{FA504E89-51BB-4110-8DED-34B7215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s8-bottom-t">
            <a:extLst xmlns:a="http://schemas.openxmlformats.org/drawingml/2006/main">
              <a:ext uri="{FF2B5EF4-FFF2-40B4-BE49-F238E27FC236}">
                <a16:creationId xmlns:a16="http://schemas.microsoft.com/office/drawing/2014/main" id="{F08812D7-DDB0-4C0F-ADE0-D22FE08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一套服务同时覆盖两种长度时：统一推荐由 1M 场景限制为 Q=16,384、S=2；拆分服务池才能释放 32K 的并发能力。</a:t>
            </a:r>
          </a:p>
        </p:txBody>
      </p:sp>
      <p:sp>
        <p:nvSpPr>
          <p:cNvPr id="13" name="source-8">
            <a:extLst xmlns:a="http://schemas.openxmlformats.org/drawingml/2006/main">
              <a:ext uri="{FF2B5EF4-FFF2-40B4-BE49-F238E27FC236}">
                <a16:creationId xmlns:a16="http://schemas.microsoft.com/office/drawing/2014/main" id="{CE135DAA-60D6-4B68-A38C-6222ABF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场景假设：一个 DP engine 上全部 S 条序列同时达到该 context_len；这是保守的无抢占容量语义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EA11EC99-AA8C-4B02-8971-05C4CF4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8722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33A71095-0512-45FB-AB76-BA9503ED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模型把不可部署的 Q=81,920 收敛到可验证的安全区间</a:t>
            </a:r>
          </a:p>
        </p:txBody>
      </p:sp>
      <p:sp>
        <p:nvSpPr>
          <p:cNvPr id="2" name="s9-chart-label">
            <a:extLst xmlns:a="http://schemas.openxmlformats.org/drawingml/2006/main">
              <a:ext uri="{FF2B5EF4-FFF2-40B4-BE49-F238E27FC236}">
                <a16:creationId xmlns:a16="http://schemas.microsoft.com/office/drawing/2014/main" id="{2B694920-EAF7-43F4-AFC2-9C55338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场景规划上界对比（GiB / die）</a:t>
            </a:r>
          </a:p>
        </p:txBody>
      </p:sp>
      <p:sp>
        <p:nvSpPr>
          <p:cNvPr id="3" name="s9-callout">
            <a:extLst xmlns:a="http://schemas.openxmlformats.org/drawingml/2006/main">
              <a:ext uri="{FF2B5EF4-FFF2-40B4-BE49-F238E27FC236}">
                <a16:creationId xmlns:a16="http://schemas.microsoft.com/office/drawing/2014/main" id="{8C1DCA0D-B420-42C9-9840-32530D7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384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9-callout-t">
            <a:extLst xmlns:a="http://schemas.openxmlformats.org/drawingml/2006/main">
              <a:ext uri="{FF2B5EF4-FFF2-40B4-BE49-F238E27FC236}">
                <a16:creationId xmlns:a16="http://schemas.microsoft.com/office/drawing/2014/main" id="{B2E9548F-C30E-455F-A1CB-BB7A848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2766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关键结论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Q=81,920 时，即使仅 1 条 1M 长序列，上界也达到 92.55 GiB。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推荐点 Q=16,384、S=2 的上界为 50.40 GiB，在支持 2 条长序列的同时回到预算内。</a:t>
            </a:r>
          </a:p>
        </p:txBody>
      </p:sp>
      <p:sp>
        <p:nvSpPr>
          <p:cNvPr id="5" name="s9-meaning">
            <a:extLst xmlns:a="http://schemas.openxmlformats.org/drawingml/2006/main">
              <a:ext uri="{FF2B5EF4-FFF2-40B4-BE49-F238E27FC236}">
                <a16:creationId xmlns:a16="http://schemas.microsoft.com/office/drawing/2014/main" id="{6A5FD850-1F69-4C1B-B8CC-B1CB2D2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84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9-meaning-t">
            <a:extLst xmlns:a="http://schemas.openxmlformats.org/drawingml/2006/main">
              <a:ext uri="{FF2B5EF4-FFF2-40B4-BE49-F238E27FC236}">
                <a16:creationId xmlns:a16="http://schemas.microsoft.com/office/drawing/2014/main" id="{EB4461DE-DAAF-4CFB-8174-734BB78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35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意义：调小 Q 不是“浪费容量”，而是用瞬时 prefill 空间换取可部署性与历史并发。</a:t>
            </a:r>
          </a:p>
        </p:txBody>
      </p:sp>
      <p:sp>
        <p:nvSpPr>
          <p:cNvPr id="7" name="source-9">
            <a:extLst xmlns:a="http://schemas.openxmlformats.org/drawingml/2006/main">
              <a:ext uri="{FF2B5EF4-FFF2-40B4-BE49-F238E27FC236}">
                <a16:creationId xmlns:a16="http://schemas.microsoft.com/office/drawing/2014/main" id="{C05EF7EA-7845-4C73-BFEA-369D19C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比较口径：Q=81,920/S=1 与推荐 Q=16,384/S=2；预算 = 64 × 0.9 = 57.60 GiB</a:t>
            </a:r>
          </a:p>
        </p:txBody>
      </p:sp>
      <p:sp>
        <p:nvSpPr>
          <p:cNvPr id="8" name="page-9">
            <a:extLst xmlns:a="http://schemas.openxmlformats.org/drawingml/2006/main">
              <a:ext uri="{FF2B5EF4-FFF2-40B4-BE49-F238E27FC236}">
                <a16:creationId xmlns:a16="http://schemas.microsoft.com/office/drawing/2014/main" id="{2E3E2A3B-4A19-468B-9BD7-C36B341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49abff2f244c04"/>
          </a:graphicData>
        </a:graphic>
      </p:graphicFrame>
    </p:spTree>
    <p:extLst>
      <p:ext uri="{BB962C8B-B14F-4D97-AF65-F5344CB8AC3E}">
        <p14:creationId xmlns:p14="http://schemas.microsoft.com/office/powerpoint/2010/main" val="1892072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AB5DE37D-DA91-444B-B904-036B65A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揭示 Q 与并发可交换，而不是给出一个“神奇常数”</a:t>
            </a:r>
          </a:p>
        </p:txBody>
      </p:sp>
      <p:sp>
        <p:nvSpPr>
          <p:cNvPr id="2" name="s10-chart-label">
            <a:extLst xmlns:a="http://schemas.openxmlformats.org/drawingml/2006/main">
              <a:ext uri="{FF2B5EF4-FFF2-40B4-BE49-F238E27FC236}">
                <a16:creationId xmlns:a16="http://schemas.microsoft.com/office/drawing/2014/main" id="{0D77EC82-DEB1-4A4D-8373-AE771B6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676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固定 max_num_seqs 时的最大可行 Q</a:t>
            </a:r>
          </a:p>
        </p:txBody>
      </p:sp>
      <p:sp>
        <p:nvSpPr>
          <p:cNvPr id="3" name="s10-card1">
            <a:extLst xmlns:a="http://schemas.openxmlformats.org/drawingml/2006/main">
              <a:ext uri="{FF2B5EF4-FFF2-40B4-BE49-F238E27FC236}">
                <a16:creationId xmlns:a16="http://schemas.microsoft.com/office/drawing/2014/main" id="{38530DBE-4F28-4DFC-88D9-A970BC2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10-card2">
            <a:extLst xmlns:a="http://schemas.openxmlformats.org/drawingml/2006/main">
              <a:ext uri="{FF2B5EF4-FFF2-40B4-BE49-F238E27FC236}">
                <a16:creationId xmlns:a16="http://schemas.microsoft.com/office/drawing/2014/main" id="{5168B1EA-3C5E-4141-B97C-9743806B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10-card3">
            <a:extLst xmlns:a="http://schemas.openxmlformats.org/drawingml/2006/main">
              <a:ext uri="{FF2B5EF4-FFF2-40B4-BE49-F238E27FC236}">
                <a16:creationId xmlns:a16="http://schemas.microsoft.com/office/drawing/2014/main" id="{BC2D3904-CE69-4751-9642-D192186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10-card1-t">
            <a:extLst xmlns:a="http://schemas.openxmlformats.org/drawingml/2006/main">
              <a:ext uri="{FF2B5EF4-FFF2-40B4-BE49-F238E27FC236}">
                <a16:creationId xmlns:a16="http://schemas.microsoft.com/office/drawing/2014/main" id="{F576CB2F-E0C7-46CF-B552-8AABFCF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长上下文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S=4 时最大 Q 仅 4,096；S≥8 时候选集中已无可行点。</a:t>
            </a:r>
          </a:p>
        </p:txBody>
      </p:sp>
      <p:sp>
        <p:nvSpPr>
          <p:cNvPr id="7" name="s10-card2-t">
            <a:extLst xmlns:a="http://schemas.openxmlformats.org/drawingml/2006/main">
              <a:ext uri="{FF2B5EF4-FFF2-40B4-BE49-F238E27FC236}">
                <a16:creationId xmlns:a16="http://schemas.microsoft.com/office/drawing/2014/main" id="{99B3E0FE-A17E-4653-8B5B-A0BAD04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S=32 时 Q=16,384；S=64 时需将 Q 降至 4,096。</a:t>
            </a:r>
          </a:p>
        </p:txBody>
      </p:sp>
      <p:sp>
        <p:nvSpPr>
          <p:cNvPr id="8" name="s10-card3-t">
            <a:extLst xmlns:a="http://schemas.openxmlformats.org/drawingml/2006/main">
              <a:ext uri="{FF2B5EF4-FFF2-40B4-BE49-F238E27FC236}">
                <a16:creationId xmlns:a16="http://schemas.microsoft.com/office/drawing/2014/main" id="{E69220A5-F103-465E-858E-A534F45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让产品规格可以按 TTFT、吞吐和并发 SLA 选择，而不是只输出单点答案。</a:t>
            </a:r>
          </a:p>
        </p:txBody>
      </p:sp>
      <p:sp>
        <p:nvSpPr>
          <p:cNvPr id="9" name="source-10">
            <a:extLst xmlns:a="http://schemas.openxmlformats.org/drawingml/2006/main">
              <a:ext uri="{FF2B5EF4-FFF2-40B4-BE49-F238E27FC236}">
                <a16:creationId xmlns:a16="http://schemas.microsoft.com/office/drawing/2014/main" id="{6126493B-266C-41F7-B5C2-EC92ACB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注：图中 0 表示当前候选集合无可行配置；筛选口径为 planning_upper + 2 GiB minimum headroom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F221E4C8-B8E7-4E56-9FEC-76C68A0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953250" cy="4495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78f4fa6eee4a56"/>
          </a:graphicData>
        </a:graphic>
      </p:graphicFrame>
    </p:spTree>
    <p:extLst>
      <p:ext uri="{BB962C8B-B14F-4D97-AF65-F5344CB8AC3E}">
        <p14:creationId xmlns:p14="http://schemas.microsoft.com/office/powerpoint/2010/main" val="269075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F0DF909F-5533-48FB-8BA4-21AA0FD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技术价值：把配置风险、规格决策和版本演进纳入可审计模型</a:t>
            </a:r>
          </a:p>
        </p:txBody>
      </p:sp>
      <p:sp>
        <p:nvSpPr>
          <p:cNvPr id="2" name="s11-v">
            <a:extLst xmlns:a="http://schemas.openxmlformats.org/drawingml/2006/main">
              <a:ext uri="{FF2B5EF4-FFF2-40B4-BE49-F238E27FC236}">
                <a16:creationId xmlns:a16="http://schemas.microsoft.com/office/drawing/2014/main" id="{6FED6C64-969A-43A9-92E8-6627BB5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11-h">
            <a:extLst xmlns:a="http://schemas.openxmlformats.org/drawingml/2006/main">
              <a:ext uri="{FF2B5EF4-FFF2-40B4-BE49-F238E27FC236}">
                <a16:creationId xmlns:a16="http://schemas.microsoft.com/office/drawing/2014/main" id="{0AC2D039-AAAD-49FE-AFAC-DCFDE87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11-1">
            <a:extLst xmlns:a="http://schemas.openxmlformats.org/drawingml/2006/main">
              <a:ext uri="{FF2B5EF4-FFF2-40B4-BE49-F238E27FC236}">
                <a16:creationId xmlns:a16="http://schemas.microsoft.com/office/drawing/2014/main" id="{C6886E10-74E5-46EA-B529-4D9D515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风险可解释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不再用“剩余 HBM”猜 OOM；每个组件都有来源、上界、余量和 unresolved 标记。</a:t>
            </a:r>
          </a:p>
        </p:txBody>
      </p:sp>
      <p:sp>
        <p:nvSpPr>
          <p:cNvPr id="5" name="s11-2">
            <a:extLst xmlns:a="http://schemas.openxmlformats.org/drawingml/2006/main">
              <a:ext uri="{FF2B5EF4-FFF2-40B4-BE49-F238E27FC236}">
                <a16:creationId xmlns:a16="http://schemas.microsoft.com/office/drawing/2014/main" id="{E7B4768A-DA24-4FD5-B4C6-6300A1E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调参更聚焦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先排除明显不可行点，再在 frontier 附近压测，减少盲目遍历配置空间。</a:t>
            </a:r>
          </a:p>
        </p:txBody>
      </p:sp>
      <p:sp>
        <p:nvSpPr>
          <p:cNvPr id="6" name="s11-3">
            <a:extLst xmlns:a="http://schemas.openxmlformats.org/drawingml/2006/main">
              <a:ext uri="{FF2B5EF4-FFF2-40B4-BE49-F238E27FC236}">
                <a16:creationId xmlns:a16="http://schemas.microsoft.com/office/drawing/2014/main" id="{3CF51463-7C60-450D-9501-B85ADE2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规格可复现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相同 JSON 输入得到相同推荐，便于跨机器、模型版本和并行方案对齐容量口径。</a:t>
            </a:r>
          </a:p>
        </p:txBody>
      </p:sp>
      <p:sp>
        <p:nvSpPr>
          <p:cNvPr id="7" name="s11-4">
            <a:extLst xmlns:a="http://schemas.openxmlformats.org/drawingml/2006/main">
              <a:ext uri="{FF2B5EF4-FFF2-40B4-BE49-F238E27FC236}">
                <a16:creationId xmlns:a16="http://schemas.microsoft.com/office/drawing/2014/main" id="{90159223-0435-4D44-9FD0-8B8319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模型可演进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权重、activation、non-Torch、Graph、Workspace 均可用实测值覆盖；KV 布局按版本切换。</a:t>
            </a:r>
          </a:p>
        </p:txBody>
      </p:sp>
      <p:sp>
        <p:nvSpPr>
          <p:cNvPr id="8" name="s11-bottom">
            <a:extLst xmlns:a="http://schemas.openxmlformats.org/drawingml/2006/main">
              <a:ext uri="{FF2B5EF4-FFF2-40B4-BE49-F238E27FC236}">
                <a16:creationId xmlns:a16="http://schemas.microsoft.com/office/drawing/2014/main" id="{303C274F-BB8E-46BD-8E77-5D5E944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76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5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核心意义：把“单次调参经验”沉淀为可解释、可校准、可比较的容量工程能力。</a:t>
            </a:r>
          </a:p>
        </p:txBody>
      </p:sp>
      <p:sp>
        <p:nvSpPr>
          <p:cNvPr id="9" name="source-11">
            <a:extLst xmlns:a="http://schemas.openxmlformats.org/drawingml/2006/main">
              <a:ext uri="{FF2B5EF4-FFF2-40B4-BE49-F238E27FC236}">
                <a16:creationId xmlns:a16="http://schemas.microsoft.com/office/drawing/2014/main" id="{B1666120-BBF4-4B4B-9168-03B9EBA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模型输出用于部署决策与压测选点；它不直接预测网络通信、TTFT、TPOT 或端到端吞吐</a:t>
            </a: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CDC85D73-DDB0-4409-8A60-D029DA4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52208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A5B459A3-DE33-4C85-81AD-ABD2753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用实测校准完成闭环，再把推荐值固化为规格基线</a:t>
            </a:r>
          </a:p>
        </p:txBody>
      </p:sp>
      <p:cxnSp>
        <p:nvCxnSpPr>
          <p:cNvPr id="20" name="s12-line"/>
          <p:cNvCxnSpPr/>
          <p:nvPr/>
        </p:nvCxnSpPr>
        <p:spPr>
          <a:xfrm xmlns:a="http://schemas.openxmlformats.org/drawingml/2006/main">
            <a:off x="1524000" y="3714750"/>
            <a:ext cx="9144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s12-dot1">
            <a:extLst xmlns:a="http://schemas.openxmlformats.org/drawingml/2006/main">
              <a:ext uri="{FF2B5EF4-FFF2-40B4-BE49-F238E27FC236}">
                <a16:creationId xmlns:a16="http://schemas.microsoft.com/office/drawing/2014/main" id="{1A07E9F0-A931-438D-BCA8-2850133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12-dot2">
            <a:extLst xmlns:a="http://schemas.openxmlformats.org/drawingml/2006/main">
              <a:ext uri="{FF2B5EF4-FFF2-40B4-BE49-F238E27FC236}">
                <a16:creationId xmlns:a16="http://schemas.microsoft.com/office/drawing/2014/main" id="{64985ACF-1565-42C0-AE44-7F38969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s12-dot3">
            <a:extLst xmlns:a="http://schemas.openxmlformats.org/drawingml/2006/main">
              <a:ext uri="{FF2B5EF4-FFF2-40B4-BE49-F238E27FC236}">
                <a16:creationId xmlns:a16="http://schemas.microsoft.com/office/drawing/2014/main" id="{13044D38-7F60-4B10-9E65-5B840FA7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s12-c1">
            <a:extLst xmlns:a="http://schemas.openxmlformats.org/drawingml/2006/main">
              <a:ext uri="{FF2B5EF4-FFF2-40B4-BE49-F238E27FC236}">
                <a16:creationId xmlns:a16="http://schemas.microsoft.com/office/drawing/2014/main" id="{3637165C-18CC-4E92-BDD5-4D7B018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12-c2">
            <a:extLst xmlns:a="http://schemas.openxmlformats.org/drawingml/2006/main">
              <a:ext uri="{FF2B5EF4-FFF2-40B4-BE49-F238E27FC236}">
                <a16:creationId xmlns:a16="http://schemas.microsoft.com/office/drawing/2014/main" id="{9DA793A5-48D1-4D64-A482-47B9CAB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12-c3">
            <a:extLst xmlns:a="http://schemas.openxmlformats.org/drawingml/2006/main">
              <a:ext uri="{FF2B5EF4-FFF2-40B4-BE49-F238E27FC236}">
                <a16:creationId xmlns:a16="http://schemas.microsoft.com/office/drawing/2014/main" id="{AD1DF132-9C79-4BFD-B9DD-4DA02CA0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s12-t1">
            <a:extLst xmlns:a="http://schemas.openxmlformats.org/drawingml/2006/main">
              <a:ext uri="{FF2B5EF4-FFF2-40B4-BE49-F238E27FC236}">
                <a16:creationId xmlns:a16="http://schemas.microsoft.com/office/drawing/2014/main" id="{A4373C0E-24EF-4AD7-8371-302ADA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结构化首算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输入 HBM、模型参数、切分策略、Q/S 候选与长度分布，生成首版 frontier。</a:t>
            </a:r>
          </a:p>
        </p:txBody>
      </p:sp>
      <p:sp>
        <p:nvSpPr>
          <p:cNvPr id="10" name="s12-t2">
            <a:extLst xmlns:a="http://schemas.openxmlformats.org/drawingml/2006/main">
              <a:ext uri="{FF2B5EF4-FFF2-40B4-BE49-F238E27FC236}">
                <a16:creationId xmlns:a16="http://schemas.microsoft.com/office/drawing/2014/main" id="{0888B54B-BC20-423E-A180-BBFC156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节点实测校准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解析实际权重与启动 profile；补齐 CANN workspace、ACL Graph 和 non-Torch。</a:t>
            </a:r>
          </a:p>
        </p:txBody>
      </p:sp>
      <p:sp>
        <p:nvSpPr>
          <p:cNvPr id="11" name="s12-t3">
            <a:extLst xmlns:a="http://schemas.openxmlformats.org/drawingml/2006/main">
              <a:ext uri="{FF2B5EF4-FFF2-40B4-BE49-F238E27FC236}">
                <a16:creationId xmlns:a16="http://schemas.microsoft.com/office/drawing/2014/main" id="{2166EE2D-921F-409E-851D-8D625FF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压测与固化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在推荐点及相邻 frontier 点验证 OOM、抢占、TTFT、TPOT 和吞吐，形成规格基线。</a:t>
            </a:r>
          </a:p>
        </p:txBody>
      </p:sp>
      <p:sp>
        <p:nvSpPr>
          <p:cNvPr id="12" name="s12-date1">
            <a:extLst xmlns:a="http://schemas.openxmlformats.org/drawingml/2006/main">
              <a:ext uri="{FF2B5EF4-FFF2-40B4-BE49-F238E27FC236}">
                <a16:creationId xmlns:a16="http://schemas.microsoft.com/office/drawing/2014/main" id="{BC022294-4BB4-4A4B-9D8E-094EB2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分析模型</a:t>
            </a:r>
          </a:p>
        </p:txBody>
      </p:sp>
      <p:sp>
        <p:nvSpPr>
          <p:cNvPr id="13" name="s12-date2">
            <a:extLst xmlns:a="http://schemas.openxmlformats.org/drawingml/2006/main">
              <a:ext uri="{FF2B5EF4-FFF2-40B4-BE49-F238E27FC236}">
                <a16:creationId xmlns:a16="http://schemas.microsoft.com/office/drawing/2014/main" id="{6CC979E8-5EC5-4BE2-9AB3-1A40311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实测校准</a:t>
            </a:r>
          </a:p>
        </p:txBody>
      </p:sp>
      <p:sp>
        <p:nvSpPr>
          <p:cNvPr id="14" name="s12-date3">
            <a:extLst xmlns:a="http://schemas.openxmlformats.org/drawingml/2006/main">
              <a:ext uri="{FF2B5EF4-FFF2-40B4-BE49-F238E27FC236}">
                <a16:creationId xmlns:a16="http://schemas.microsoft.com/office/drawing/2014/main" id="{D69A0466-D714-467E-94D2-832DC8A0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规格发布</a:t>
            </a:r>
          </a:p>
        </p:txBody>
      </p:sp>
      <p:sp>
        <p:nvSpPr>
          <p:cNvPr id="15" name="s12-closing">
            <a:extLst xmlns:a="http://schemas.openxmlformats.org/drawingml/2006/main">
              <a:ext uri="{FF2B5EF4-FFF2-40B4-BE49-F238E27FC236}">
                <a16:creationId xmlns:a16="http://schemas.microsoft.com/office/drawing/2014/main" id="{519B894B-AF04-4679-89D8-7383ED2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最终交付的不只是一个数字，而是</a:t>
            </a:r>
            <a:r>
              <a:rPr sz="22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“推荐值 + 上界 + 余量 + 备选边界 + 数据来源”</a:t>
            </a: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。</a:t>
            </a:r>
          </a:p>
        </p:txBody>
      </p:sp>
      <p:sp>
        <p:nvSpPr>
          <p:cNvPr id="16" name="s12-limit">
            <a:extLst xmlns:a="http://schemas.openxmlformats.org/drawingml/2006/main">
              <a:ext uri="{FF2B5EF4-FFF2-40B4-BE49-F238E27FC236}">
                <a16:creationId xmlns:a16="http://schemas.microsoft.com/office/drawing/2014/main" id="{D6C8ED50-69FD-4AA7-A74C-F45BFA4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当前边界：DeepSeek-V4-Flash 内置 profile；未知 Workspace reserve 是保守占位；推荐器不替代真实业务压测。</a:t>
            </a:r>
          </a:p>
        </p:txBody>
      </p:sp>
      <p:sp>
        <p:nvSpPr>
          <p:cNvPr id="17" name="source-12">
            <a:extLst xmlns:a="http://schemas.openxmlformats.org/drawingml/2006/main">
              <a:ext uri="{FF2B5EF4-FFF2-40B4-BE49-F238E27FC236}">
                <a16:creationId xmlns:a16="http://schemas.microsoft.com/office/drawing/2014/main" id="{DA1B94FF-DFA0-4E7E-B1E2-3F3402F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建议下一步：接入目标 910C 节点启动日志与 CANN workspace 数据，完成模型校准和规格验收</a:t>
            </a:r>
          </a:p>
        </p:txBody>
      </p:sp>
      <p:sp>
        <p:nvSpPr>
          <p:cNvPr id="18" name="page-12">
            <a:extLst xmlns:a="http://schemas.openxmlformats.org/drawingml/2006/main">
              <a:ext uri="{FF2B5EF4-FFF2-40B4-BE49-F238E27FC236}">
                <a16:creationId xmlns:a16="http://schemas.microsoft.com/office/drawing/2014/main" id="{EAC807B5-E55D-4AC5-9CE1-9A7253EE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237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2026-07-22T14:57:13.2980000Z</dcterms:created>
  <dcterms:modified xsi:type="dcterms:W3CDTF">2026-07-22T14:57:13.2980000Z</dcterms:modified>
</coreProperties>
</file>