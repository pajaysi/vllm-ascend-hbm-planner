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2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2d1208cb3354af2" /><Relationship Type="http://schemas.openxmlformats.org/officeDocument/2006/relationships/extended-properties" Target="/docProps/app.xml" Id="Rbcf3dca2287746d6" /><Relationship Type="http://schemas.openxmlformats.org/officeDocument/2006/relationships/officeDocument" Target="/ppt/presentation.xml" Id="R50b41430c6ef4f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b02daba74d4ec9"/>
  </p:sldMasterIdLst>
  <p:notesMasterIdLst>
    <p:notesMasterId xmlns:r="http://schemas.openxmlformats.org/officeDocument/2006/relationships" r:id="R37ed39c6f5134153"/>
  </p:notesMasterIdLst>
  <p:sldIdLst>
    <p:sldId xmlns:r="http://schemas.openxmlformats.org/officeDocument/2006/relationships" id="256" r:id="Rb87c3257a5084bf7"/>
    <p:sldId xmlns:r="http://schemas.openxmlformats.org/officeDocument/2006/relationships" id="257" r:id="R0ea841b4d66d4124"/>
    <p:sldId xmlns:r="http://schemas.openxmlformats.org/officeDocument/2006/relationships" id="258" r:id="R573471aa5e08476a"/>
    <p:sldId xmlns:r="http://schemas.openxmlformats.org/officeDocument/2006/relationships" id="259" r:id="R921685e4720e4624"/>
    <p:sldId xmlns:r="http://schemas.openxmlformats.org/officeDocument/2006/relationships" id="260" r:id="Read8c4498bbf4c16"/>
    <p:sldId xmlns:r="http://schemas.openxmlformats.org/officeDocument/2006/relationships" id="261" r:id="Ra7453b22c6874d81"/>
    <p:sldId xmlns:r="http://schemas.openxmlformats.org/officeDocument/2006/relationships" id="262" r:id="Raef818bcc8e4480f"/>
    <p:sldId xmlns:r="http://schemas.openxmlformats.org/officeDocument/2006/relationships" id="263" r:id="R64488af66e7e419a"/>
    <p:sldId xmlns:r="http://schemas.openxmlformats.org/officeDocument/2006/relationships" id="264" r:id="Rf14d82f31662498c"/>
    <p:sldId xmlns:r="http://schemas.openxmlformats.org/officeDocument/2006/relationships" id="265" r:id="Rde24fa38be31434a"/>
    <p:sldId xmlns:r="http://schemas.openxmlformats.org/officeDocument/2006/relationships" id="266" r:id="Rc5a58442a9944f8e"/>
    <p:sldId xmlns:r="http://schemas.openxmlformats.org/officeDocument/2006/relationships" id="267" r:id="R4b09e647722f4d08"/>
    <p:sldId xmlns:r="http://schemas.openxmlformats.org/officeDocument/2006/relationships" id="268" r:id="Racff7473b17d4a5b"/>
    <p:sldId xmlns:r="http://schemas.openxmlformats.org/officeDocument/2006/relationships" id="269" r:id="R112ca0cb94374f5b"/>
    <p:sldId xmlns:r="http://schemas.openxmlformats.org/officeDocument/2006/relationships" id="270" r:id="R910bb5e07d5740e6"/>
    <p:sldId xmlns:r="http://schemas.openxmlformats.org/officeDocument/2006/relationships" id="271" r:id="Rf21425d4cb4d44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6789029dfb44b6" /><Relationship Type="http://schemas.openxmlformats.org/officeDocument/2006/relationships/slideMaster" Target="/ppt/slideMasters/slideMaster1.xml" Id="R1cb02daba74d4ec9" /><Relationship Type="http://schemas.openxmlformats.org/officeDocument/2006/relationships/notesMaster" Target="/ppt/notesMasters/notesMaster1.xml" Id="R37ed39c6f5134153" /><Relationship Type="http://schemas.openxmlformats.org/officeDocument/2006/relationships/presProps" Target="/ppt/presProps.xml" Id="R0aa3f20ef8154299" /><Relationship Type="http://schemas.openxmlformats.org/officeDocument/2006/relationships/tableStyles" Target="/ppt/tableStyles.xml" Id="Rf6b382ecc4f74e52" /><Relationship Type="http://schemas.openxmlformats.org/officeDocument/2006/relationships/slide" Target="/ppt/slides/slide1.xml" Id="Rb87c3257a5084bf7" /><Relationship Type="http://schemas.openxmlformats.org/officeDocument/2006/relationships/slide" Target="/ppt/slides/slide2.xml" Id="R0ea841b4d66d4124" /><Relationship Type="http://schemas.openxmlformats.org/officeDocument/2006/relationships/slide" Target="/ppt/slides/slide3.xml" Id="R573471aa5e08476a" /><Relationship Type="http://schemas.openxmlformats.org/officeDocument/2006/relationships/slide" Target="/ppt/slides/slide4.xml" Id="R921685e4720e4624" /><Relationship Type="http://schemas.openxmlformats.org/officeDocument/2006/relationships/slide" Target="/ppt/slides/slide5.xml" Id="Read8c4498bbf4c16" /><Relationship Type="http://schemas.openxmlformats.org/officeDocument/2006/relationships/slide" Target="/ppt/slides/slide6.xml" Id="Ra7453b22c6874d81" /><Relationship Type="http://schemas.openxmlformats.org/officeDocument/2006/relationships/slide" Target="/ppt/slides/slide7.xml" Id="Raef818bcc8e4480f" /><Relationship Type="http://schemas.openxmlformats.org/officeDocument/2006/relationships/slide" Target="/ppt/slides/slide8.xml" Id="R64488af66e7e419a" /><Relationship Type="http://schemas.openxmlformats.org/officeDocument/2006/relationships/slide" Target="/ppt/slides/slide9.xml" Id="Rf14d82f31662498c" /><Relationship Type="http://schemas.openxmlformats.org/officeDocument/2006/relationships/slide" Target="/ppt/slides/slide10.xml" Id="Rde24fa38be31434a" /><Relationship Type="http://schemas.openxmlformats.org/officeDocument/2006/relationships/slide" Target="/ppt/slides/slide11.xml" Id="Rc5a58442a9944f8e" /><Relationship Type="http://schemas.openxmlformats.org/officeDocument/2006/relationships/slide" Target="/ppt/slides/slide12.xml" Id="R4b09e647722f4d08" /><Relationship Type="http://schemas.openxmlformats.org/officeDocument/2006/relationships/slide" Target="/ppt/slides/slide13.xml" Id="Racff7473b17d4a5b" /><Relationship Type="http://schemas.openxmlformats.org/officeDocument/2006/relationships/slide" Target="/ppt/slides/slide14.xml" Id="R112ca0cb94374f5b" /><Relationship Type="http://schemas.openxmlformats.org/officeDocument/2006/relationships/slide" Target="/ppt/slides/slide15.xml" Id="R910bb5e07d5740e6" /><Relationship Type="http://schemas.openxmlformats.org/officeDocument/2006/relationships/slide" Target="/ppt/slides/slide16.xml" Id="Rf21425d4cb4d44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9a4bf922cb48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9fd078add7438d" /><Relationship Type="http://schemas.openxmlformats.org/officeDocument/2006/relationships/notesMaster" Target="/ppt/notesMasters/notesMaster1.xml" Id="Raf076b33d4274d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d072e21121441a" /><Relationship Type="http://schemas.openxmlformats.org/officeDocument/2006/relationships/notesMaster" Target="/ppt/notesMasters/notesMaster1.xml" Id="Re973104c16a242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2dbb34e47348d3" /><Relationship Type="http://schemas.openxmlformats.org/officeDocument/2006/relationships/notesMaster" Target="/ppt/notesMasters/notesMaster1.xml" Id="R72da8f5c3ba343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4bc9b414b743e2" /><Relationship Type="http://schemas.openxmlformats.org/officeDocument/2006/relationships/notesMaster" Target="/ppt/notesMasters/notesMaster1.xml" Id="Rba49d598a5b34e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5cefedda2848ff" /><Relationship Type="http://schemas.openxmlformats.org/officeDocument/2006/relationships/notesMaster" Target="/ppt/notesMasters/notesMaster1.xml" Id="R993fc129f75940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b5f293a17f401e" /><Relationship Type="http://schemas.openxmlformats.org/officeDocument/2006/relationships/notesMaster" Target="/ppt/notesMasters/notesMaster1.xml" Id="Ra3c50d91b0cd42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1a1ccba9b245a7" /><Relationship Type="http://schemas.openxmlformats.org/officeDocument/2006/relationships/notesMaster" Target="/ppt/notesMasters/notesMaster1.xml" Id="R4694be888f854e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68cc2614404f95" /><Relationship Type="http://schemas.openxmlformats.org/officeDocument/2006/relationships/notesMaster" Target="/ppt/notesMasters/notesMaster1.xml" Id="R056408c96a604e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add5ffef274ee1" /><Relationship Type="http://schemas.openxmlformats.org/officeDocument/2006/relationships/notesMaster" Target="/ppt/notesMasters/notesMaster1.xml" Id="R04ea5e20636e4a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0002edd68b42d4" /><Relationship Type="http://schemas.openxmlformats.org/officeDocument/2006/relationships/notesMaster" Target="/ppt/notesMasters/notesMaster1.xml" Id="R64553428faeb40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83eb1a2ff24703" /><Relationship Type="http://schemas.openxmlformats.org/officeDocument/2006/relationships/notesMaster" Target="/ppt/notesMasters/notesMaster1.xml" Id="R54256ec4df4241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64855f00454539" /><Relationship Type="http://schemas.openxmlformats.org/officeDocument/2006/relationships/notesMaster" Target="/ppt/notesMasters/notesMaster1.xml" Id="R925d396aa7044e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46c3440ebe45b7" /><Relationship Type="http://schemas.openxmlformats.org/officeDocument/2006/relationships/notesMaster" Target="/ppt/notesMasters/notesMaster1.xml" Id="R16a6e0d4e08b42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3911db0efd24661" /><Relationship Type="http://schemas.openxmlformats.org/officeDocument/2006/relationships/notesMaster" Target="/ppt/notesMasters/notesMaster1.xml" Id="R243a34ab47bc429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e1bc0688b14257" /><Relationship Type="http://schemas.openxmlformats.org/officeDocument/2006/relationships/notesMaster" Target="/ppt/notesMasters/notesMaster1.xml" Id="R4a7bdf321f7e47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939b9feff14e27" /><Relationship Type="http://schemas.openxmlformats.org/officeDocument/2006/relationships/notesMaster" Target="/ppt/notesMasters/notesMaster1.xml" Id="Rda394ef476bf41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docs/THEORY_MODELING.md §1
- src/vllm_ascend_hbm/startup.py
- src/vllm_ascend_hbm/engine.py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src/vllm_ascend_hbm/kv/deepseek_v4_v023.py
- docs/THEORY_MODELING.md §2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src/vllm_ascend_hbm/weight_models/deepseek_v4_w8a8.py
- src/vllm_ascend_hbm/weight_models/persistent_buffers.py
- src/vllm_ascend_hbm/components.py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src/vllm_ascend_hbm/recommender.py
- src/vllm_ascend_hbm/startup.py
- docs/THEORY_MODELING.md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2f1c41011445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7e894e9f53442a6" /><Relationship Type="http://schemas.openxmlformats.org/officeDocument/2006/relationships/slideLayout" Target="/ppt/slideLayouts/slideLayout1.xml" Id="R7b972aa2c56347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972aa2c56347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49dd3eaa849fe" /><Relationship Type="http://schemas.openxmlformats.org/officeDocument/2006/relationships/notesSlide" Target="/ppt/notesSlides/notesSlide1.xml" Id="Re0255b8fe2284d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e205f38f14b24" /><Relationship Type="http://schemas.openxmlformats.org/officeDocument/2006/relationships/notesSlide" Target="/ppt/notesSlides/notesSlide2.xml" Id="R75bbb71f936d4a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a1916a22e40f3" /><Relationship Type="http://schemas.openxmlformats.org/officeDocument/2006/relationships/notesSlide" Target="/ppt/notesSlides/notesSlide3.xml" Id="Ra35dd940c16148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59b07d0a048e5" /><Relationship Type="http://schemas.openxmlformats.org/officeDocument/2006/relationships/notesSlide" Target="/ppt/notesSlides/notesSlide4.xml" Id="R45ef9cba2ba348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9f96f69e664ac9" /><Relationship Type="http://schemas.openxmlformats.org/officeDocument/2006/relationships/notesSlide" Target="/ppt/notesSlides/notesSlide5.xml" Id="Rae62768b48ff49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e148ea6ee4b65" /><Relationship Type="http://schemas.openxmlformats.org/officeDocument/2006/relationships/notesSlide" Target="/ppt/notesSlides/notesSlide6.xml" Id="R3071ffc9bd62434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3cd1e1bce4230" /><Relationship Type="http://schemas.openxmlformats.org/officeDocument/2006/relationships/notesSlide" Target="/ppt/notesSlides/notesSlide7.xml" Id="R2ac0a277d2c14b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b083970b5a46d6" /><Relationship Type="http://schemas.openxmlformats.org/officeDocument/2006/relationships/chart" Target="/ppt/slides/charts/chart1.xml" Id="R8ad100d0a4a948a7" /><Relationship Type="http://schemas.openxmlformats.org/officeDocument/2006/relationships/notesSlide" Target="/ppt/notesSlides/notesSlide8.xml" Id="R138cd26bcb1e46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051f911a73435a" /><Relationship Type="http://schemas.openxmlformats.org/officeDocument/2006/relationships/notesSlide" Target="/ppt/notesSlides/notesSlide9.xml" Id="R652e928a8fa446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ac3159f3249c4" /><Relationship Type="http://schemas.openxmlformats.org/officeDocument/2006/relationships/notesSlide" Target="/ppt/notesSlides/notesSlide10.xml" Id="R0c36cf68375742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a36a132d148f5" /><Relationship Type="http://schemas.openxmlformats.org/officeDocument/2006/relationships/notesSlide" Target="/ppt/notesSlides/notesSlide11.xml" Id="R167cbb5bf84a47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33a5d2d5d4996" /><Relationship Type="http://schemas.openxmlformats.org/officeDocument/2006/relationships/notesSlide" Target="/ppt/notesSlides/notesSlide12.xml" Id="Rc7432b9e25554fc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2b66e6b4f4116" /><Relationship Type="http://schemas.openxmlformats.org/officeDocument/2006/relationships/chart" Target="/ppt/slides/charts/chart2.xml" Id="R00666a88b53741ca" /><Relationship Type="http://schemas.openxmlformats.org/officeDocument/2006/relationships/notesSlide" Target="/ppt/notesSlides/notesSlide13.xml" Id="R9800b43c9321424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545eba9d2477c" /><Relationship Type="http://schemas.openxmlformats.org/officeDocument/2006/relationships/chart" Target="/ppt/slides/charts/chart3.xml" Id="R67f3806985854a17" /><Relationship Type="http://schemas.openxmlformats.org/officeDocument/2006/relationships/notesSlide" Target="/ppt/notesSlides/notesSlide14.xml" Id="R2ce668e6443d44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81af6682e442a" /><Relationship Type="http://schemas.openxmlformats.org/officeDocument/2006/relationships/notesSlide" Target="/ppt/notesSlides/notesSlide15.xml" Id="Rc4d37c4f65d446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8d45133ef4fac" /><Relationship Type="http://schemas.openxmlformats.org/officeDocument/2006/relationships/notesSlide" Target="/ppt/notesSlides/notesSlide16.xml" Id="Re31301363a70451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GiB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6"/>
              <c:pt idx="0">
                <c:v>权重</c:v>
              </c:pt>
              <c:pt idx="1">
                <c:v>KV planner</c:v>
              </c:pt>
              <c:pt idx="2">
                <c:v>激活</c:v>
              </c:pt>
              <c:pt idx="3">
                <c:v>Runtime</c:v>
              </c:pt>
              <c:pt idx="4">
                <c:v>Workspace占位</c:v>
              </c:pt>
              <c:pt idx="5">
                <c:v>碎片+安全</c:v>
              </c:pt>
            </c:strLit>
          </c:cat>
          <c:val>
            <c:numLit>
              <c:formatCode>General</c:formatCode>
              <c:ptCount val="6"/>
              <c:pt idx="0">
                <c:v>18.28</c:v>
              </c:pt>
              <c:pt idx="1">
                <c:v>22.71</c:v>
              </c:pt>
              <c:pt idx="2">
                <c:v>2.62</c:v>
              </c:pt>
              <c:pt idx="3">
                <c:v>0.25</c:v>
              </c:pt>
              <c:pt idx="4">
                <c:v>2</c:v>
              </c:pt>
              <c:pt idx="5">
                <c:v>1.81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GiB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Q81920 / S1</c:v>
              </c:pt>
              <c:pt idx="1">
                <c:v>推荐 Q16384 / S2</c:v>
              </c:pt>
              <c:pt idx="2">
                <c:v>可用预算</c:v>
              </c:pt>
            </c:strLit>
          </c:cat>
          <c:val>
            <c:numLit>
              <c:formatCode>General</c:formatCode>
              <c:ptCount val="3"/>
              <c:pt idx="0">
                <c:v>92.55</c:v>
              </c:pt>
              <c:pt idx="1">
                <c:v>50.4</c:v>
              </c:pt>
              <c:pt idx="2">
                <c:v>57.6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1M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  <c:pt idx="5">
                <c:v>32</c:v>
              </c:pt>
              <c:pt idx="6">
                <c:v>64</c:v>
              </c:pt>
            </c:numLit>
          </c:cat>
          <c:val>
            <c:numLit>
              <c:formatCode>General</c:formatCode>
              <c:ptCount val="7"/>
              <c:pt idx="0">
                <c:v>16384</c:v>
              </c:pt>
              <c:pt idx="1">
                <c:v>16384</c:v>
              </c:pt>
              <c:pt idx="2">
                <c:v>4096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</c:numLit>
          </c:val>
        </c:ser>
        <c:ser>
          <c:idx val="1"/>
          <c:order val="1"/>
          <c:tx>
            <c:v>32K</c:v>
          </c:tx>
          <c:spPr>
            <a:ln xmlns:a="http://schemas.openxmlformats.org/drawingml/2006/main" w="38100">
              <a:solidFill>
                <a:srgbClr val="6DCBF4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4</c:v>
              </c:pt>
              <c:pt idx="3">
                <c:v>8</c:v>
              </c:pt>
              <c:pt idx="4">
                <c:v>16</c:v>
              </c:pt>
              <c:pt idx="5">
                <c:v>32</c:v>
              </c:pt>
              <c:pt idx="6">
                <c:v>64</c:v>
              </c:pt>
            </c:numLit>
          </c:cat>
          <c:val>
            <c:numLit>
              <c:formatCode>General</c:formatCode>
              <c:ptCount val="7"/>
              <c:pt idx="0">
                <c:v>32768</c:v>
              </c:pt>
              <c:pt idx="1">
                <c:v>32768</c:v>
              </c:pt>
              <c:pt idx="2">
                <c:v>32768</c:v>
              </c:pt>
              <c:pt idx="3">
                <c:v>32768</c:v>
              </c:pt>
              <c:pt idx="4">
                <c:v>16384</c:v>
              </c:pt>
              <c:pt idx="5">
                <c:v>16384</c:v>
              </c:pt>
              <c:pt idx="6">
                <c:v>4096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670"/>
                    </a:solidFill>
                    <a:latin typeface="Noto Sans CJK SC"/>
                    <a:ea typeface="Noto Sans CJK SC"/>
                    <a:cs typeface="Noto Sans CJK SC"/>
                  </a:rPr>
                  <a:t>max_num_seqs / DP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67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lblOffset val="100"/>
      </c:catAx>
      <c:valAx>
        <c:axId val="48672768"/>
        <c:scaling>
          <c:orientation val="minMax"/>
          <c:max val="36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F6670"/>
                    </a:solidFill>
                    <a:latin typeface="Noto Sans CJK SC"/>
                    <a:ea typeface="Noto Sans CJK SC"/>
                    <a:cs typeface="Noto Sans CJK SC"/>
                  </a:rPr>
                  <a:t>max feasible Q</a:t>
                </a:r>
              </a:p>
            </c:rich>
          </c:tx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F6670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8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000000"/>
              </a:solidFill>
              <a:latin typeface="Noto Sans CJK SC"/>
              <a:ea typeface="Noto Sans CJK SC"/>
              <a:cs typeface="Noto Sans CJK S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3265FF9C-5682-428F-B407-50D68627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857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技术汇报｜vLLM Ascend · DeepSeek-V4-Flash · 910C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068AFAB-0754-4CB3-81C2-C86A99CD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668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4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把配置调优变成
</a:t>
            </a:r>
            <a:r>
              <a:rPr sz="480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可解释的 HBM 容量推荐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8177F21-7C6D-4148-921A-C17E43D4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85725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02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面向 max_num_batched_tokens / max_num_seqs 的峰值内存建模、边界搜索与规格推荐</a:t>
            </a:r>
          </a:p>
        </p:txBody>
      </p:sp>
      <p:sp>
        <p:nvSpPr>
          <p:cNvPr id="4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461A4257-B70F-4F6F-AE52-4951D7F2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19650"/>
            <a:ext cx="1657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cover-date">
            <a:extLst xmlns:a="http://schemas.openxmlformats.org/drawingml/2006/main">
              <a:ext uri="{FF2B5EF4-FFF2-40B4-BE49-F238E27FC236}">
                <a16:creationId xmlns:a16="http://schemas.microsoft.com/office/drawing/2014/main" id="{E2E2BC19-1CC2-40C1-8DE4-199EBC52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76950"/>
            <a:ext cx="666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05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HBM Modeling &amp; Configuration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3123829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2">
            <a:extLst xmlns:a="http://schemas.openxmlformats.org/drawingml/2006/main">
              <a:ext uri="{FF2B5EF4-FFF2-40B4-BE49-F238E27FC236}">
                <a16:creationId xmlns:a16="http://schemas.microsoft.com/office/drawing/2014/main" id="{7F7EC0E5-F837-4BAB-83BB-F974A5A5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单看“每 token 约 5 KB”会系统性低估峰值 HBM</a:t>
            </a:r>
          </a:p>
        </p:txBody>
      </p:sp>
      <p:sp>
        <p:nvSpPr>
          <p:cNvPr id="2" name="s2-message">
            <a:extLst xmlns:a="http://schemas.openxmlformats.org/drawingml/2006/main">
              <a:ext uri="{FF2B5EF4-FFF2-40B4-BE49-F238E27FC236}">
                <a16:creationId xmlns:a16="http://schemas.microsoft.com/office/drawing/2014/main" id="{E58EF79D-45F7-4AE9-B903-230B3185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0490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5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单位 KV 成本只是起点；</a:t>
            </a:r>
            <a:r>
              <a:rPr sz="25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1M 历史块、并发倍增和 prefill 瞬时内存</a:t>
            </a:r>
            <a:r>
              <a:rPr sz="25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共同决定是否 OOM。</a:t>
            </a:r>
          </a:p>
        </p:txBody>
      </p:sp>
      <p:sp>
        <p:nvSpPr>
          <p:cNvPr id="3" name="s2-c1">
            <a:extLst xmlns:a="http://schemas.openxmlformats.org/drawingml/2006/main">
              <a:ext uri="{FF2B5EF4-FFF2-40B4-BE49-F238E27FC236}">
                <a16:creationId xmlns:a16="http://schemas.microsoft.com/office/drawing/2014/main" id="{DD20A493-9357-4D81-9732-B7E75E1F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051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2-c2">
            <a:extLst xmlns:a="http://schemas.openxmlformats.org/drawingml/2006/main">
              <a:ext uri="{FF2B5EF4-FFF2-40B4-BE49-F238E27FC236}">
                <a16:creationId xmlns:a16="http://schemas.microsoft.com/office/drawing/2014/main" id="{1BDBE8B0-3A05-43E1-8A5B-4D41639F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2-c3">
            <a:extLst xmlns:a="http://schemas.openxmlformats.org/drawingml/2006/main">
              <a:ext uri="{FF2B5EF4-FFF2-40B4-BE49-F238E27FC236}">
                <a16:creationId xmlns:a16="http://schemas.microsoft.com/office/drawing/2014/main" id="{E5AA571B-0D33-4471-9E73-B1B0A540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35623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2-c1-text">
            <a:extLst xmlns:a="http://schemas.openxmlformats.org/drawingml/2006/main">
              <a:ext uri="{FF2B5EF4-FFF2-40B4-BE49-F238E27FC236}">
                <a16:creationId xmlns:a16="http://schemas.microsoft.com/office/drawing/2014/main" id="{769B07E7-88A9-4CBD-9CF9-F42EF643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9908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L｜历史长度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历史 KV/state block 随有效上下文增长；并发序列会把历史容量成倍放大。</a:t>
            </a:r>
          </a:p>
        </p:txBody>
      </p:sp>
      <p:sp>
        <p:nvSpPr>
          <p:cNvPr id="7" name="s2-c2-text">
            <a:extLst xmlns:a="http://schemas.openxmlformats.org/drawingml/2006/main">
              <a:ext uri="{FF2B5EF4-FFF2-40B4-BE49-F238E27FC236}">
                <a16:creationId xmlns:a16="http://schemas.microsoft.com/office/drawing/2014/main" id="{2178F78F-9200-4D46-B0DC-A9D684F9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86150"/>
            <a:ext cx="29908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Q｜批处理 token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max_num_batched_tokens 决定 prefill 激活、瞬态 KV/state 和输入缓冲峰值。</a:t>
            </a:r>
          </a:p>
        </p:txBody>
      </p:sp>
      <p:sp>
        <p:nvSpPr>
          <p:cNvPr id="8" name="s2-c3-text">
            <a:extLst xmlns:a="http://schemas.openxmlformats.org/drawingml/2006/main">
              <a:ext uri="{FF2B5EF4-FFF2-40B4-BE49-F238E27FC236}">
                <a16:creationId xmlns:a16="http://schemas.microsoft.com/office/drawing/2014/main" id="{A43100D9-73BC-4263-B634-F82C66B7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86150"/>
            <a:ext cx="29908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S｜在途序列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max_num_seqs 决定一个 DP engine 同时保留多少条历史；它不能脱离长度单独推荐。</a:t>
            </a:r>
          </a:p>
        </p:txBody>
      </p:sp>
      <p:sp>
        <p:nvSpPr>
          <p:cNvPr id="9" name="s2-evidence">
            <a:extLst xmlns:a="http://schemas.openxmlformats.org/drawingml/2006/main">
              <a:ext uri="{FF2B5EF4-FFF2-40B4-BE49-F238E27FC236}">
                <a16:creationId xmlns:a16="http://schemas.microsoft.com/office/drawing/2014/main" id="{4AF7F60D-C8C7-4E82-8996-5456AD08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57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D1495B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D1495B"/>
                </a:solidFill>
                <a:latin typeface="Noto Sans CJK SC Medium"/>
                <a:ea typeface="Noto Sans CJK SC Medium"/>
                <a:cs typeface="Noto Sans CJK SC Medium"/>
              </a:rPr>
              <a:t>示例：Q=81,920、1M 上下文，即使只有 1 条长序列，规划上界约 92.55 GiB；而可用预算仅 57.60 GiB。</a:t>
            </a:r>
          </a:p>
        </p:txBody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625A115E-573D-477A-955B-7EA78399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来源：本项目计算器默认配置与 v0.20 KV/BlockPool 模型输出</a:t>
            </a:r>
          </a:p>
        </p:txBody>
      </p:sp>
      <p:sp>
        <p:nvSpPr>
          <p:cNvPr id="11" name="page-2">
            <a:extLst xmlns:a="http://schemas.openxmlformats.org/drawingml/2006/main">
              <a:ext uri="{FF2B5EF4-FFF2-40B4-BE49-F238E27FC236}">
                <a16:creationId xmlns:a16="http://schemas.microsoft.com/office/drawing/2014/main" id="{E39FF379-C165-48BA-8AC5-7A11C17D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71704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3">
            <a:extLst xmlns:a="http://schemas.openxmlformats.org/drawingml/2006/main">
              <a:ext uri="{FF2B5EF4-FFF2-40B4-BE49-F238E27FC236}">
                <a16:creationId xmlns:a16="http://schemas.microsoft.com/office/drawing/2014/main" id="{D5E16749-86CF-43F9-AC44-B6A80E73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峰值 HBM 拆成七类来源，并区分实际张量与规划容量</a:t>
            </a:r>
          </a:p>
        </p:txBody>
      </p:sp>
      <p:sp>
        <p:nvSpPr>
          <p:cNvPr id="2" name="s3-formula">
            <a:extLst xmlns:a="http://schemas.openxmlformats.org/drawingml/2006/main">
              <a:ext uri="{FF2B5EF4-FFF2-40B4-BE49-F238E27FC236}">
                <a16:creationId xmlns:a16="http://schemas.microsoft.com/office/drawing/2014/main" id="{46D80802-41DA-4B69-9D29-42A04307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144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8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Total HBM = 权重 + KV/state + 激活 + Workspace + Graph + Runtime + 碎片/安全余量</a:t>
            </a:r>
          </a:p>
        </p:txBody>
      </p:sp>
      <p:cxnSp>
        <p:nvCxnSpPr>
          <p:cNvPr id="32" name="s3-a1"/>
          <p:cNvCxnSpPr/>
          <p:nvPr/>
        </p:nvCxnSpPr>
        <p:spPr>
          <a:xfrm xmlns:a="http://schemas.openxmlformats.org/drawingml/2006/main">
            <a:off x="2019300" y="3028950"/>
            <a:ext cx="9334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3" name="s3-a2"/>
          <p:cNvCxnSpPr/>
          <p:nvPr/>
        </p:nvCxnSpPr>
        <p:spPr>
          <a:xfrm xmlns:a="http://schemas.openxmlformats.org/drawingml/2006/main">
            <a:off x="5905500" y="3028950"/>
            <a:ext cx="895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4" name="s3-a3"/>
          <p:cNvCxnSpPr/>
          <p:nvPr/>
        </p:nvCxnSpPr>
        <p:spPr>
          <a:xfrm xmlns:a="http://schemas.openxmlformats.org/drawingml/2006/main">
            <a:off x="9525000" y="3028950"/>
            <a:ext cx="8572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s3-input">
            <a:extLst xmlns:a="http://schemas.openxmlformats.org/drawingml/2006/main">
              <a:ext uri="{FF2B5EF4-FFF2-40B4-BE49-F238E27FC236}">
                <a16:creationId xmlns:a16="http://schemas.microsoft.com/office/drawing/2014/main" id="{C706EF8E-08C1-4182-89B7-FFFF3A53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161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3-components">
            <a:extLst xmlns:a="http://schemas.openxmlformats.org/drawingml/2006/main">
              <a:ext uri="{FF2B5EF4-FFF2-40B4-BE49-F238E27FC236}">
                <a16:creationId xmlns:a16="http://schemas.microsoft.com/office/drawing/2014/main" id="{15D0883B-49AE-4256-A80D-5C6D275F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09750"/>
            <a:ext cx="29527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s3-total">
            <a:extLst xmlns:a="http://schemas.openxmlformats.org/drawingml/2006/main">
              <a:ext uri="{FF2B5EF4-FFF2-40B4-BE49-F238E27FC236}">
                <a16:creationId xmlns:a16="http://schemas.microsoft.com/office/drawing/2014/main" id="{91E32E50-5001-41F7-A17C-D0D2E860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81200"/>
            <a:ext cx="2724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9" name="s3-fit">
            <a:extLst xmlns:a="http://schemas.openxmlformats.org/drawingml/2006/main">
              <a:ext uri="{FF2B5EF4-FFF2-40B4-BE49-F238E27FC236}">
                <a16:creationId xmlns:a16="http://schemas.microsoft.com/office/drawing/2014/main" id="{7DE97382-8E97-4047-B6E4-61A31E92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71700"/>
            <a:ext cx="140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3-input-text">
            <a:extLst xmlns:a="http://schemas.openxmlformats.org/drawingml/2006/main">
              <a:ext uri="{FF2B5EF4-FFF2-40B4-BE49-F238E27FC236}">
                <a16:creationId xmlns:a16="http://schemas.microsoft.com/office/drawing/2014/main" id="{C01F9731-B2EE-47BE-B15D-494B2EDA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112395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7394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输入</a:t>
            </a:r>
          </a:p>
          <a:p xmlns:a="http://schemas.openxmlformats.org/drawingml/2006/main">
            <a:pPr algn="ctr">
              <a:lnSpc>
                <a:spcPct val="135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硬件
模型
并行
运行配置</a:t>
            </a:r>
          </a:p>
        </p:txBody>
      </p:sp>
      <p:sp>
        <p:nvSpPr>
          <p:cNvPr id="11" name="s3-comp-text">
            <a:extLst xmlns:a="http://schemas.openxmlformats.org/drawingml/2006/main">
              <a:ext uri="{FF2B5EF4-FFF2-40B4-BE49-F238E27FC236}">
                <a16:creationId xmlns:a16="http://schemas.microsoft.com/office/drawing/2014/main" id="{315C3A15-8966-4A8E-A3EA-10B772BB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28850"/>
            <a:ext cx="238125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内存组件模型</a:t>
            </a:r>
          </a:p>
          <a:p xmlns:a="http://schemas.openxmlformats.org/drawingml/2006/main">
            <a:pPr algn="l">
              <a:lnSpc>
                <a:spcPct val="130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可解析：权重 / KV 页面
结构估算：激活 / Runtime
需校准：Workspace / Graph</a:t>
            </a:r>
          </a:p>
        </p:txBody>
      </p:sp>
      <p:sp>
        <p:nvSpPr>
          <p:cNvPr id="12" name="s3-total-text">
            <a:extLst xmlns:a="http://schemas.openxmlformats.org/drawingml/2006/main">
              <a:ext uri="{FF2B5EF4-FFF2-40B4-BE49-F238E27FC236}">
                <a16:creationId xmlns:a16="http://schemas.microsoft.com/office/drawing/2014/main" id="{4EF24BEC-D800-4A4E-AE51-460AA09F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21526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两套容量口径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Actual：physical KV 张量
Planning：替换为 BlockPool planner 容量
Upper：叠加组件不确定性</a:t>
            </a:r>
          </a:p>
        </p:txBody>
      </p:sp>
      <p:sp>
        <p:nvSpPr>
          <p:cNvPr id="13" name="s3-fit-text">
            <a:extLst xmlns:a="http://schemas.openxmlformats.org/drawingml/2006/main">
              <a:ext uri="{FF2B5EF4-FFF2-40B4-BE49-F238E27FC236}">
                <a16:creationId xmlns:a16="http://schemas.microsoft.com/office/drawing/2014/main" id="{4E694968-D575-473E-AB81-C063DDB7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495550"/>
            <a:ext cx="10668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46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 Medium"/>
                <a:ea typeface="Noto Sans CJK SC Medium"/>
                <a:cs typeface="Noto Sans CJK SC Medium"/>
              </a:rPr>
              <a:t>可行性</a:t>
            </a:r>
          </a:p>
          <a:p xmlns:a="http://schemas.openxmlformats.org/drawingml/2006/main">
            <a:pPr algn="ctr">
              <a:lnSpc>
                <a:spcPct val="135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预算
上界
余量</a:t>
            </a:r>
          </a:p>
        </p:txBody>
      </p:sp>
      <p:sp>
        <p:nvSpPr>
          <p:cNvPr id="14" name="s3-actual">
            <a:extLst xmlns:a="http://schemas.openxmlformats.org/drawingml/2006/main">
              <a:ext uri="{FF2B5EF4-FFF2-40B4-BE49-F238E27FC236}">
                <a16:creationId xmlns:a16="http://schemas.microsoft.com/office/drawing/2014/main" id="{3200BCB0-4F9A-4C14-B135-863AACF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4191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5" name="s3-planning">
            <a:extLst xmlns:a="http://schemas.openxmlformats.org/drawingml/2006/main">
              <a:ext uri="{FF2B5EF4-FFF2-40B4-BE49-F238E27FC236}">
                <a16:creationId xmlns:a16="http://schemas.microsoft.com/office/drawing/2014/main" id="{F2B67158-DB30-477A-B77B-115411B8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43450"/>
            <a:ext cx="4343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6" name="s3-actual-text">
            <a:extLst xmlns:a="http://schemas.openxmlformats.org/drawingml/2006/main">
              <a:ext uri="{FF2B5EF4-FFF2-40B4-BE49-F238E27FC236}">
                <a16:creationId xmlns:a16="http://schemas.microsoft.com/office/drawing/2014/main" id="{95F00F32-0DCB-4563-952D-7CCC2A3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72050"/>
            <a:ext cx="3733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实际峰值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physical KV + 非 KV + fragmentation + safety</a:t>
            </a:r>
          </a:p>
        </p:txBody>
      </p:sp>
      <p:sp>
        <p:nvSpPr>
          <p:cNvPr id="17" name="s3-planning-text">
            <a:extLst xmlns:a="http://schemas.openxmlformats.org/drawingml/2006/main">
              <a:ext uri="{FF2B5EF4-FFF2-40B4-BE49-F238E27FC236}">
                <a16:creationId xmlns:a16="http://schemas.microsoft.com/office/drawing/2014/main" id="{185A50BC-3A64-4B8F-83BC-A0A00070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72050"/>
            <a:ext cx="3886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规划峰值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actual − physical KV + planner KV</a:t>
            </a:r>
          </a:p>
        </p:txBody>
      </p:sp>
      <p:sp>
        <p:nvSpPr>
          <p:cNvPr id="18" name="source-3">
            <a:extLst xmlns:a="http://schemas.openxmlformats.org/drawingml/2006/main">
              <a:ext uri="{FF2B5EF4-FFF2-40B4-BE49-F238E27FC236}">
                <a16:creationId xmlns:a16="http://schemas.microsoft.com/office/drawing/2014/main" id="{890C1FDB-A159-4C63-939E-0482032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方法口径：per logical NPU/die；HBM budget = physical HBM × gpu_memory_utilization</a:t>
            </a:r>
          </a:p>
        </p:txBody>
      </p:sp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28347E7B-6451-4817-9BCA-9A24EC91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77629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启动可用 KV 与运行峰值必须按不同生命周期计算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启动准入口径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请求预算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M_req = U × M_visible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可用 KV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M_avail = M_req − M_load − M_act − M_nonTorch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8994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最低准入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M_minKV(L,Q,B) ≤ M_avail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Graph 阶段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M_postKV + M_graph ≤ M_startup_free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生命周期边界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Graph 在 KV 规划后检查，不从 M_avail 再扣一次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运行安全口径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8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M_available KV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M_req − M_load − M_act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  − M_nonTorch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/>
            <a:r>
              <a:rPr sz="3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M_runtime peak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457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M_load + M_KV + M_act + M_workspace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  + M_graph + M_runtime + M_fragmentation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/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判定规则：startup_pass ∧ runtime_safe；运行安全推荐不得超过启动极限。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来源：THEORY_MODELING.md；startup.py；engine.py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">
            <a:extLst xmlns:a="http://schemas.openxmlformats.org/drawingml/2006/main">
              <a:ext uri="{FF2B5EF4-FFF2-40B4-BE49-F238E27FC236}">
                <a16:creationId xmlns:a16="http://schemas.microsoft.com/office/drawing/2014/main" id="{994F23DB-2E87-43C6-86B2-D6B8897A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推荐所需输入可归结为四组：硬件、模型、并行与运行场景</a:t>
            </a:r>
          </a:p>
        </p:txBody>
      </p:sp>
      <p:sp>
        <p:nvSpPr>
          <p:cNvPr id="2" name="s4-vline">
            <a:extLst xmlns:a="http://schemas.openxmlformats.org/drawingml/2006/main">
              <a:ext uri="{FF2B5EF4-FFF2-40B4-BE49-F238E27FC236}">
                <a16:creationId xmlns:a16="http://schemas.microsoft.com/office/drawing/2014/main" id="{89569634-D643-4525-B692-5C3C0E7F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9525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s4-hline">
            <a:extLst xmlns:a="http://schemas.openxmlformats.org/drawingml/2006/main">
              <a:ext uri="{FF2B5EF4-FFF2-40B4-BE49-F238E27FC236}">
                <a16:creationId xmlns:a16="http://schemas.microsoft.com/office/drawing/2014/main" id="{528327C4-8590-4E8A-B77C-F6805B48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4-1">
            <a:extLst xmlns:a="http://schemas.openxmlformats.org/drawingml/2006/main">
              <a:ext uri="{FF2B5EF4-FFF2-40B4-BE49-F238E27FC236}">
                <a16:creationId xmlns:a16="http://schemas.microsoft.com/office/drawing/2014/main" id="{2C8DD122-E636-4F51-9F30-6F8304B5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52197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01  硬件预算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每个可见 die 的 HBM 容量
gpu_memory_utilization
设备与 vLLM Ascend 版本</a:t>
            </a:r>
          </a:p>
        </p:txBody>
      </p:sp>
      <p:sp>
        <p:nvSpPr>
          <p:cNvPr id="5" name="s4-2">
            <a:extLst xmlns:a="http://schemas.openxmlformats.org/drawingml/2006/main">
              <a:ext uri="{FF2B5EF4-FFF2-40B4-BE49-F238E27FC236}">
                <a16:creationId xmlns:a16="http://schemas.microsoft.com/office/drawing/2014/main" id="{AC7E3C59-7ACB-4983-8A04-1AC7C69C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90700"/>
            <a:ext cx="4953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02  模型与权重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层数、hidden、attention、MoE、MTP
量化位宽与 safetensors 路径
实测 per-rank 权重覆盖</a:t>
            </a:r>
          </a:p>
        </p:txBody>
      </p:sp>
      <p:sp>
        <p:nvSpPr>
          <p:cNvPr id="6" name="s4-3">
            <a:extLst xmlns:a="http://schemas.openxmlformats.org/drawingml/2006/main">
              <a:ext uri="{FF2B5EF4-FFF2-40B4-BE49-F238E27FC236}">
                <a16:creationId xmlns:a16="http://schemas.microsoft.com/office/drawing/2014/main" id="{B22C0236-87F2-42FF-89E3-9FEEC68E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52197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03  并行切分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DP / TP / PP / EP
PCP / DCP 对每 rank token 与 KV 页面影响
DP 复制权重、分散全局并发</a:t>
            </a:r>
          </a:p>
        </p:txBody>
      </p:sp>
      <p:sp>
        <p:nvSpPr>
          <p:cNvPr id="7" name="s4-4">
            <a:extLst xmlns:a="http://schemas.openxmlformats.org/drawingml/2006/main">
              <a:ext uri="{FF2B5EF4-FFF2-40B4-BE49-F238E27FC236}">
                <a16:creationId xmlns:a16="http://schemas.microsoft.com/office/drawing/2014/main" id="{0C6069DC-E17B-431A-98FF-00847CFC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57650"/>
            <a:ext cx="4953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04  调度与业务</a:t>
            </a:r>
          </a:p>
          <a:p xmlns:a="http://schemas.openxmlformats.org/drawingml/2006/main">
            <a:pPr algn="l">
              <a:lnSpc>
                <a:spcPct val="128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block_size / max_model_len
Q、S 候选集合与目标函数
典型长度和最坏长度场景</a:t>
            </a:r>
          </a:p>
        </p:txBody>
      </p:sp>
      <p:sp>
        <p:nvSpPr>
          <p:cNvPr id="8" name="s4-note">
            <a:extLst xmlns:a="http://schemas.openxmlformats.org/drawingml/2006/main">
              <a:ext uri="{FF2B5EF4-FFF2-40B4-BE49-F238E27FC236}">
                <a16:creationId xmlns:a16="http://schemas.microsoft.com/office/drawing/2014/main" id="{2867454F-511B-44DD-BB39-A53EBA11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90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JSON 输入 → 可复现计算 → 直接输出 vLLM 启动参数与备选边界</a:t>
            </a:r>
          </a:p>
        </p:txBody>
      </p:sp>
      <p:sp>
        <p:nvSpPr>
          <p:cNvPr id="9" name="source-4">
            <a:extLst xmlns:a="http://schemas.openxmlformats.org/drawingml/2006/main">
              <a:ext uri="{FF2B5EF4-FFF2-40B4-BE49-F238E27FC236}">
                <a16:creationId xmlns:a16="http://schemas.microsoft.com/office/drawing/2014/main" id="{68A9773B-81C8-40C4-88F5-CD606464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当前内置模型 profile：DeepSeek-V4-Flash；其他模型需补充对应 KV/激活 profile</a:t>
            </a:r>
          </a:p>
        </p:txBody>
      </p:sp>
      <p:sp>
        <p:nvSpPr>
          <p:cNvPr id="10" name="page-4">
            <a:extLst xmlns:a="http://schemas.openxmlformats.org/drawingml/2006/main">
              <a:ext uri="{FF2B5EF4-FFF2-40B4-BE49-F238E27FC236}">
                <a16:creationId xmlns:a16="http://schemas.microsoft.com/office/drawing/2014/main" id="{0BD4F0B1-99FB-427B-8EA6-77C440F2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794467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KV 必须按 vLLM BlockPool 的异构页面、对齐和规划口径计算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9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9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一个 global block 不是单一 KV tensor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History KV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长上下文主项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SWA cache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局部窗口页面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state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压缩状态页面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state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对齐后的大状态页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Prefill / MTP transient pages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由 Q 与并行切分驱动的瞬时容量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8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v0.20 / A3 / block_size=128 / MTP1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85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850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3,380,736 B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527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physical bytes / global block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8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8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3,397,376 B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7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planner bytes / global block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9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差值 16,640 B / block</a:t>
            </a:r>
            <a:r>
              <a:rPr sz="13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 会随 global block 数累积；容量判断必须使用 planner 口径。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来源：DeepSeek-V4 技术报告；vLLM Ascend v0.20 BlockPool/KV 结构模型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DSV4 v0.23 的最低 KV 可由五组页面逐项复算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6117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符号：L=序列长度，Q=批量 token，B=128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history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P_C4H = ceil[L / (4B)]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192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history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P_C128H = ceil[L / (128B)]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287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× SWA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P_SWA = 2{ceil[min(127+Q,L)/B]+1}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8222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C4 state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P_C4S = ceil[min(7+Q,L)/8]+1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C128 state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P_C128S = ceil[min(127+Q,L)/32]+1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7858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v0.23 / A3 / B=128 / minimum admission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8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P_total = 5,702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L=32,768 且 Q≥L 时，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P_total = P_C4H+P_C128H+P_SWA+P_C4S+P_C128S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/>
            <a:r>
              <a:rPr sz="3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M_minKV = 17.257 GiB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457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5,702 × 22 × (131,072 + 16,640) B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18,529,584,128 B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/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22 是最低准入 layer tuple 数；物理 pool allocation 的 tuple 口径必须单独计算。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来源：deepseek_v4_v023.py；THEORY_MODELING.md §2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6">
            <a:extLst xmlns:a="http://schemas.openxmlformats.org/drawingml/2006/main">
              <a:ext uri="{FF2B5EF4-FFF2-40B4-BE49-F238E27FC236}">
                <a16:creationId xmlns:a16="http://schemas.microsoft.com/office/drawing/2014/main" id="{51D8AAEC-06D9-4A37-B529-775F69AE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非 KV 内存决定真正可留给 BlockPool 的空间，不能只算 cache</a:t>
            </a:r>
          </a:p>
        </p:txBody>
      </p:sp>
      <p:sp>
        <p:nvSpPr>
          <p:cNvPr id="2" name="s6-chart-label">
            <a:extLst xmlns:a="http://schemas.openxmlformats.org/drawingml/2006/main">
              <a:ext uri="{FF2B5EF4-FFF2-40B4-BE49-F238E27FC236}">
                <a16:creationId xmlns:a16="http://schemas.microsoft.com/office/drawing/2014/main" id="{EF3EAFB9-48AD-488A-88AF-15EA5C1B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81100"/>
            <a:ext cx="619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推荐点的中心规划量分解（GiB / die）</a:t>
            </a:r>
          </a:p>
        </p:txBody>
      </p:sp>
      <p:sp>
        <p:nvSpPr>
          <p:cNvPr id="3" name="s6-card1">
            <a:extLst xmlns:a="http://schemas.openxmlformats.org/drawingml/2006/main">
              <a:ext uri="{FF2B5EF4-FFF2-40B4-BE49-F238E27FC236}">
                <a16:creationId xmlns:a16="http://schemas.microsoft.com/office/drawing/2014/main" id="{FF050E80-0C69-4170-93B8-BF7DF3E0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6-card2">
            <a:extLst xmlns:a="http://schemas.openxmlformats.org/drawingml/2006/main">
              <a:ext uri="{FF2B5EF4-FFF2-40B4-BE49-F238E27FC236}">
                <a16:creationId xmlns:a16="http://schemas.microsoft.com/office/drawing/2014/main" id="{9A6A83F7-AA66-47C3-AF3D-10B85D82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6-card3">
            <a:extLst xmlns:a="http://schemas.openxmlformats.org/drawingml/2006/main">
              <a:ext uri="{FF2B5EF4-FFF2-40B4-BE49-F238E27FC236}">
                <a16:creationId xmlns:a16="http://schemas.microsoft.com/office/drawing/2014/main" id="{A60E1DC7-3A7C-4A3F-B243-F048323F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38650"/>
            <a:ext cx="4095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6-card1-t">
            <a:extLst xmlns:a="http://schemas.openxmlformats.org/drawingml/2006/main">
              <a:ext uri="{FF2B5EF4-FFF2-40B4-BE49-F238E27FC236}">
                <a16:creationId xmlns:a16="http://schemas.microsoft.com/office/drawing/2014/main" id="{6987CB5F-E9A4-40EE-B8E1-F6479A5C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8595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权重 18.28 GiB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可由启动 profile、手工值或 safetensors header 解析；DP 不切分权重。</a:t>
            </a:r>
          </a:p>
        </p:txBody>
      </p:sp>
      <p:sp>
        <p:nvSpPr>
          <p:cNvPr id="7" name="s6-card2-t">
            <a:extLst xmlns:a="http://schemas.openxmlformats.org/drawingml/2006/main">
              <a:ext uri="{FF2B5EF4-FFF2-40B4-BE49-F238E27FC236}">
                <a16:creationId xmlns:a16="http://schemas.microsoft.com/office/drawing/2014/main" id="{746302A7-0357-491C-A922-E3662F86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5755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激活 2.62 GiB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按 mHC、attention、MoE 分支和生命周期重叠建模，可由 profile 校准。</a:t>
            </a:r>
          </a:p>
        </p:txBody>
      </p:sp>
      <p:sp>
        <p:nvSpPr>
          <p:cNvPr id="8" name="s6-card3-t">
            <a:extLst xmlns:a="http://schemas.openxmlformats.org/drawingml/2006/main">
              <a:ext uri="{FF2B5EF4-FFF2-40B4-BE49-F238E27FC236}">
                <a16:creationId xmlns:a16="http://schemas.microsoft.com/office/drawing/2014/main" id="{67179ED3-2D08-402C-8A54-487B5DE5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2915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07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D1495B"/>
                </a:solidFill>
                <a:latin typeface="Noto Sans CJK SC Medium"/>
                <a:ea typeface="Noto Sans CJK SC Medium"/>
                <a:cs typeface="Noto Sans CJK SC Medium"/>
              </a:rPr>
              <a:t>未知 Workspace 先占 2.00 GiB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占位不是芯片常数；上线前需用 CANN kernel query 或峰值差分替换。</a:t>
            </a:r>
          </a:p>
        </p:txBody>
      </p:sp>
      <p:sp>
        <p:nvSpPr>
          <p:cNvPr id="9" name="s6-values">
            <a:extLst xmlns:a="http://schemas.openxmlformats.org/drawingml/2006/main">
              <a:ext uri="{FF2B5EF4-FFF2-40B4-BE49-F238E27FC236}">
                <a16:creationId xmlns:a16="http://schemas.microsoft.com/office/drawing/2014/main" id="{E5D85BB8-844A-4348-B57F-1EEBC428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666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125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权重 18.28 ｜ KV 22.71 ｜ 激活 2.62 ｜ Runtime 0.25 ｜ Workspace 2.00 ｜ 碎片+安全 1.81</a:t>
            </a:r>
          </a:p>
        </p:txBody>
      </p:sp>
      <p:sp>
        <p:nvSpPr>
          <p:cNvPr id="10" name="s6-total">
            <a:extLst xmlns:a="http://schemas.openxmlformats.org/drawingml/2006/main">
              <a:ext uri="{FF2B5EF4-FFF2-40B4-BE49-F238E27FC236}">
                <a16:creationId xmlns:a16="http://schemas.microsoft.com/office/drawing/2014/main" id="{D42B4FA6-4454-431C-B07C-F86984AC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9144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425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Planning 47.67 GiB ｜ Upper 50.40 GiB ｜ 预算 57.60 GiB</a:t>
            </a:r>
          </a:p>
        </p:txBody>
      </p:sp>
      <p:sp>
        <p:nvSpPr>
          <p:cNvPr id="11" name="source-6">
            <a:extLst xmlns:a="http://schemas.openxmlformats.org/drawingml/2006/main">
              <a:ext uri="{FF2B5EF4-FFF2-40B4-BE49-F238E27FC236}">
                <a16:creationId xmlns:a16="http://schemas.microsoft.com/office/drawing/2014/main" id="{F5EBA152-FCDD-475A-A19E-EC7C796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示例配置：64 GiB/die，utilization=0.9，DP4/TP4/EP16，Q=16,384，S=2，1M 场景</a:t>
            </a:r>
          </a:p>
        </p:txBody>
      </p:sp>
      <p:sp>
        <p:nvSpPr>
          <p:cNvPr id="12" name="page-6">
            <a:extLst xmlns:a="http://schemas.openxmlformats.org/drawingml/2006/main">
              <a:ext uri="{FF2B5EF4-FFF2-40B4-BE49-F238E27FC236}">
                <a16:creationId xmlns:a16="http://schemas.microsoft.com/office/drawing/2014/main" id="{54616507-8DCF-424F-AB90-7DDCE86A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8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6362700" cy="3657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ad100d0a4a948a7"/>
          </a:graphicData>
        </a:graphic>
      </p:graphicFrame>
    </p:spTree>
    <p:extLst>
      <p:ext uri="{BB962C8B-B14F-4D97-AF65-F5344CB8AC3E}">
        <p14:creationId xmlns:p14="http://schemas.microsoft.com/office/powerpoint/2010/main" val="21167524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9539"/>
          </a:bodyPr>
          <a:lstStyle xmlns:a="http://schemas.openxmlformats.org/drawingml/2006/main"/>
          <a:p xmlns:a="http://schemas.openxmlformats.org/drawingml/2006/main">
            <a:pPr algn="l"/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非 KV 内存用逐张量、峰值活跃集与通信域分别计算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权重与模型常驻缓冲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单张量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M_i = numel_i × bytes(dtype_i) / shard_i(TP,EP,PP)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3668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W8A8 linear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 = in×out + out×(2+2+4)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Rank 模型加载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M_load = ΣM_i + M_postload + M_buffers(Q)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MTP hidden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M_MTP = Q × hc_mult × hidden × 2 B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RoPE / Top-k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按 max_position、Q 与共享关系分别计入常驻 buffer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激活、HCCL 与 Graph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8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M_activation peak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M_persistent + α × max(M_attention, M_MoE)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α = branch_live_fraction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/>
            <a:r>
              <a:rPr sz="3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M_HCCL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457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2 × HCCL_BUFFSIZE × N_domain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M_graph = N_cap×M_fixed + Σ(size×M_token)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/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TP/EP/PP 决定 shard_i；CANN/ACL/workspace 的未知残差按版本化实测项校准。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来源：deepseek_v4_w8a8.py；persistent_buffers.py；components.py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7">
            <a:extLst xmlns:a="http://schemas.openxmlformats.org/drawingml/2006/main">
              <a:ext uri="{FF2B5EF4-FFF2-40B4-BE49-F238E27FC236}">
                <a16:creationId xmlns:a16="http://schemas.microsoft.com/office/drawing/2014/main" id="{0F73B38D-7B13-419D-9FC2-936CFADB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推荐算法不是寻找“最大值”，而是在安全边界内平衡 Q 与 S</a:t>
            </a:r>
          </a:p>
        </p:txBody>
      </p:sp>
      <p:cxnSp>
        <p:nvCxnSpPr>
          <p:cNvPr id="26" name="s7-a1"/>
          <p:cNvCxnSpPr/>
          <p:nvPr/>
        </p:nvCxnSpPr>
        <p:spPr>
          <a:xfrm xmlns:a="http://schemas.openxmlformats.org/drawingml/2006/main">
            <a:off x="2667000" y="2952750"/>
            <a:ext cx="400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7" name="s7-a2"/>
          <p:cNvCxnSpPr/>
          <p:nvPr/>
        </p:nvCxnSpPr>
        <p:spPr>
          <a:xfrm xmlns:a="http://schemas.openxmlformats.org/drawingml/2006/main">
            <a:off x="5600700" y="2952750"/>
            <a:ext cx="400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8" name="s7-a3"/>
          <p:cNvCxnSpPr/>
          <p:nvPr/>
        </p:nvCxnSpPr>
        <p:spPr>
          <a:xfrm xmlns:a="http://schemas.openxmlformats.org/drawingml/2006/main">
            <a:off x="8534400" y="2952750"/>
            <a:ext cx="4000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5" name="s7-b1">
            <a:extLst xmlns:a="http://schemas.openxmlformats.org/drawingml/2006/main">
              <a:ext uri="{FF2B5EF4-FFF2-40B4-BE49-F238E27FC236}">
                <a16:creationId xmlns:a16="http://schemas.microsoft.com/office/drawing/2014/main" id="{B9E0295A-D7F0-4D3F-8102-83733202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22669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7-b2">
            <a:extLst xmlns:a="http://schemas.openxmlformats.org/drawingml/2006/main">
              <a:ext uri="{FF2B5EF4-FFF2-40B4-BE49-F238E27FC236}">
                <a16:creationId xmlns:a16="http://schemas.microsoft.com/office/drawing/2014/main" id="{54018F2D-ACA9-470A-93C8-BADC7035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43100"/>
            <a:ext cx="2533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7-b3">
            <a:extLst xmlns:a="http://schemas.openxmlformats.org/drawingml/2006/main">
              <a:ext uri="{FF2B5EF4-FFF2-40B4-BE49-F238E27FC236}">
                <a16:creationId xmlns:a16="http://schemas.microsoft.com/office/drawing/2014/main" id="{C0EC8943-F82D-43CB-9EA0-85BF8E5A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43100"/>
            <a:ext cx="25336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s7-b4">
            <a:extLst xmlns:a="http://schemas.openxmlformats.org/drawingml/2006/main">
              <a:ext uri="{FF2B5EF4-FFF2-40B4-BE49-F238E27FC236}">
                <a16:creationId xmlns:a16="http://schemas.microsoft.com/office/drawing/2014/main" id="{F92C41F5-4B37-4EA7-B9DC-B768BA8B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43100"/>
            <a:ext cx="28575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9" name="s7-t1">
            <a:extLst xmlns:a="http://schemas.openxmlformats.org/drawingml/2006/main">
              <a:ext uri="{FF2B5EF4-FFF2-40B4-BE49-F238E27FC236}">
                <a16:creationId xmlns:a16="http://schemas.microsoft.com/office/drawing/2014/main" id="{A5961176-8C01-4DE1-BE36-BC4F3F97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18097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  枚举候选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遍历 Q × S × context_len；拒绝 Q &lt; S 的无效组合。</a:t>
            </a:r>
          </a:p>
        </p:txBody>
      </p:sp>
      <p:sp>
        <p:nvSpPr>
          <p:cNvPr id="10" name="s7-t2">
            <a:extLst xmlns:a="http://schemas.openxmlformats.org/drawingml/2006/main">
              <a:ext uri="{FF2B5EF4-FFF2-40B4-BE49-F238E27FC236}">
                <a16:creationId xmlns:a16="http://schemas.microsoft.com/office/drawing/2014/main" id="{2B0301FE-6BEA-4670-AAFE-C6A3F394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86000"/>
            <a:ext cx="2038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 计算峰值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复用六类组件模型，计算 physical、planning 与 upper 三种口径。</a:t>
            </a:r>
          </a:p>
        </p:txBody>
      </p:sp>
      <p:sp>
        <p:nvSpPr>
          <p:cNvPr id="11" name="s7-t3">
            <a:extLst xmlns:a="http://schemas.openxmlformats.org/drawingml/2006/main">
              <a:ext uri="{FF2B5EF4-FFF2-40B4-BE49-F238E27FC236}">
                <a16:creationId xmlns:a16="http://schemas.microsoft.com/office/drawing/2014/main" id="{67806E61-D3C5-486E-B5F6-6A1730AA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86000"/>
            <a:ext cx="20383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3  安全筛选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Planning upper + minimum headroom ≤ HBM × utilization</a:t>
            </a:r>
          </a:p>
        </p:txBody>
      </p:sp>
      <p:sp>
        <p:nvSpPr>
          <p:cNvPr id="12" name="s7-t4">
            <a:extLst xmlns:a="http://schemas.openxmlformats.org/drawingml/2006/main">
              <a:ext uri="{FF2B5EF4-FFF2-40B4-BE49-F238E27FC236}">
                <a16:creationId xmlns:a16="http://schemas.microsoft.com/office/drawing/2014/main" id="{E1A8448E-9B8D-4B40-B8CD-7F175B21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86000"/>
            <a:ext cx="23241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4  目标评分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对 Q、S 做对数归一化；支持 balanced、prefill 和 concurrency。</a:t>
            </a:r>
          </a:p>
        </p:txBody>
      </p:sp>
      <p:sp>
        <p:nvSpPr>
          <p:cNvPr id="13" name="s7-formula">
            <a:extLst xmlns:a="http://schemas.openxmlformats.org/drawingml/2006/main">
              <a:ext uri="{FF2B5EF4-FFF2-40B4-BE49-F238E27FC236}">
                <a16:creationId xmlns:a16="http://schemas.microsoft.com/office/drawing/2014/main" id="{252E87D8-F08E-44F6-AFD7-5D730BA1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11391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14" name="s7-formula-t">
            <a:extLst xmlns:a="http://schemas.openxmlformats.org/drawingml/2006/main">
              <a:ext uri="{FF2B5EF4-FFF2-40B4-BE49-F238E27FC236}">
                <a16:creationId xmlns:a16="http://schemas.microsoft.com/office/drawing/2014/main" id="{27586A88-4A4B-410C-8120-20AD455E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7442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70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score = 100 × [ wQ · norm(Q) + wS · norm(S) ]</a:t>
            </a:r>
          </a:p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默认 balanced：wQ = wS = 0.5。分数表达配置偏好，不替代真实 TTFT / TPOT / 吞吐压测。</a:t>
            </a:r>
          </a:p>
        </p:txBody>
      </p:sp>
      <p:sp>
        <p:nvSpPr>
          <p:cNvPr id="15" name="source-7">
            <a:extLst xmlns:a="http://schemas.openxmlformats.org/drawingml/2006/main">
              <a:ext uri="{FF2B5EF4-FFF2-40B4-BE49-F238E27FC236}">
                <a16:creationId xmlns:a16="http://schemas.microsoft.com/office/drawing/2014/main" id="{4A2B87C6-3DC3-47FC-B7F0-E2BF1F80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输出同时给出全场景统一推荐、各场景独立推荐、Top-K 备选和双向 frontier</a:t>
            </a:r>
          </a:p>
        </p:txBody>
      </p:sp>
      <p:sp>
        <p:nvSpPr>
          <p:cNvPr id="16" name="page-7">
            <a:extLst xmlns:a="http://schemas.openxmlformats.org/drawingml/2006/main">
              <a:ext uri="{FF2B5EF4-FFF2-40B4-BE49-F238E27FC236}">
                <a16:creationId xmlns:a16="http://schemas.microsoft.com/office/drawing/2014/main" id="{8907E5B2-CD48-479D-B0FD-8481F7CB2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509039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5">
            <a:extLst xmlns:a="http://schemas.openxmlformats.org/drawingml/2006/main">
              <a:ext uri="{FF2B5EF4-FFF2-40B4-BE49-F238E27FC236}">
                <a16:creationId xmlns:a16="http://schemas.microsoft.com/office/drawing/2014/main" id="{358CA78C-D0A4-43B8-A78D-20F1A752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4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推荐值是在启动准入与运行上界共同约束下搜索</a:t>
            </a:r>
          </a:p>
        </p:txBody>
      </p:sp>
      <p:sp>
        <p:nvSpPr>
          <p:cNvPr id="2" name="s5-left-title">
            <a:extLst xmlns:a="http://schemas.openxmlformats.org/drawingml/2006/main">
              <a:ext uri="{FF2B5EF4-FFF2-40B4-BE49-F238E27FC236}">
                <a16:creationId xmlns:a16="http://schemas.microsoft.com/office/drawing/2014/main" id="{934E3A35-3CCA-44EF-B5AB-AD99BFE2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334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对每个候选 (Q,S) 逐场景判定</a:t>
            </a:r>
          </a:p>
        </p:txBody>
      </p:sp>
      <p:sp>
        <p:nvSpPr>
          <p:cNvPr id="3" name="s5-history">
            <a:extLst xmlns:a="http://schemas.openxmlformats.org/drawingml/2006/main">
              <a:ext uri="{FF2B5EF4-FFF2-40B4-BE49-F238E27FC236}">
                <a16:creationId xmlns:a16="http://schemas.microsoft.com/office/drawing/2014/main" id="{84BCEFCB-4768-4FD9-AE59-211C3667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4" name="s5-swa">
            <a:extLst xmlns:a="http://schemas.openxmlformats.org/drawingml/2006/main">
              <a:ext uri="{FF2B5EF4-FFF2-40B4-BE49-F238E27FC236}">
                <a16:creationId xmlns:a16="http://schemas.microsoft.com/office/drawing/2014/main" id="{83961C45-4F50-4C55-9894-66A7A567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479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5-state4">
            <a:extLst xmlns:a="http://schemas.openxmlformats.org/drawingml/2006/main">
              <a:ext uri="{FF2B5EF4-FFF2-40B4-BE49-F238E27FC236}">
                <a16:creationId xmlns:a16="http://schemas.microsoft.com/office/drawing/2014/main" id="{A9547761-B4F2-481F-A1BA-2FB0CED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6" name="s5-state128">
            <a:extLst xmlns:a="http://schemas.openxmlformats.org/drawingml/2006/main">
              <a:ext uri="{FF2B5EF4-FFF2-40B4-BE49-F238E27FC236}">
                <a16:creationId xmlns:a16="http://schemas.microsoft.com/office/drawing/2014/main" id="{3D4DA8C2-4DE9-4137-9F02-F481782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362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5-transient">
            <a:extLst xmlns:a="http://schemas.openxmlformats.org/drawingml/2006/main">
              <a:ext uri="{FF2B5EF4-FFF2-40B4-BE49-F238E27FC236}">
                <a16:creationId xmlns:a16="http://schemas.microsoft.com/office/drawing/2014/main" id="{769E1C45-2610-4B63-A095-72099AE0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4914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5-history-t">
            <a:extLst xmlns:a="http://schemas.openxmlformats.org/drawingml/2006/main">
              <a:ext uri="{FF2B5EF4-FFF2-40B4-BE49-F238E27FC236}">
                <a16:creationId xmlns:a16="http://schemas.microsoft.com/office/drawing/2014/main" id="{84223726-1AF5-4B34-8F5C-79A125BD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3563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启动约束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M_minKV(L,Q) ≤ M_availKV(Q,S)</a:t>
            </a:r>
          </a:p>
        </p:txBody>
      </p:sp>
      <p:sp>
        <p:nvSpPr>
          <p:cNvPr id="9" name="s5-swa-t">
            <a:extLst xmlns:a="http://schemas.openxmlformats.org/drawingml/2006/main">
              <a:ext uri="{FF2B5EF4-FFF2-40B4-BE49-F238E27FC236}">
                <a16:creationId xmlns:a16="http://schemas.microsoft.com/office/drawing/2014/main" id="{00B0878D-AFCB-4A10-BBC2-DCD94905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193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099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运行约束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M_upper(Q,S,L) + H_min ≤ M_requested</a:t>
            </a:r>
          </a:p>
        </p:txBody>
      </p:sp>
      <p:sp>
        <p:nvSpPr>
          <p:cNvPr id="10" name="s5-state4-t">
            <a:extLst xmlns:a="http://schemas.openxmlformats.org/drawingml/2006/main">
              <a:ext uri="{FF2B5EF4-FFF2-40B4-BE49-F238E27FC236}">
                <a16:creationId xmlns:a16="http://schemas.microsoft.com/office/drawing/2014/main" id="{E928303B-6ADD-4353-AA3A-E668169A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9094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可行集合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F = {(Q,S) | startup ∧ runtime}</a:t>
            </a:r>
          </a:p>
        </p:txBody>
      </p:sp>
      <p:sp>
        <p:nvSpPr>
          <p:cNvPr id="11" name="s5-state128-t">
            <a:extLst xmlns:a="http://schemas.openxmlformats.org/drawingml/2006/main">
              <a:ext uri="{FF2B5EF4-FFF2-40B4-BE49-F238E27FC236}">
                <a16:creationId xmlns:a16="http://schemas.microsoft.com/office/drawing/2014/main" id="{1F26E364-93C4-4CE1-911D-1B8FF05B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86150"/>
            <a:ext cx="1981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67287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Frontier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固定 S 取 max Q；固定 Q 取 max S</a:t>
            </a:r>
          </a:p>
        </p:txBody>
      </p:sp>
      <p:sp>
        <p:nvSpPr>
          <p:cNvPr id="12" name="s5-transient-t">
            <a:extLst xmlns:a="http://schemas.openxmlformats.org/drawingml/2006/main">
              <a:ext uri="{FF2B5EF4-FFF2-40B4-BE49-F238E27FC236}">
                <a16:creationId xmlns:a16="http://schemas.microsoft.com/office/drawing/2014/main" id="{5318B86F-CE41-466E-89ED-9C83D6B5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4577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5351"/>
          </a:bodyPr>
          <a:lstStyle xmlns:a="http://schemas.openxmlformats.org/drawingml/2006/main"/>
          <a:p xmlns:a="http://schemas.openxmlformats.org/drawingml/2006/main">
            <a:pPr algn="l">
              <a:spcAft>
                <a:spcPts val="2"/>
              </a:spcAft>
            </a:pPr>
            <a:r>
              <a:rPr sz="22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跨场景统一</a:t>
            </a:r>
          </a:p>
          <a:p xmlns:a="http://schemas.openxmlformats.org/drawingml/2006/main">
            <a:pPr algn="l"/>
            <a:r>
              <a:rPr sz="16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F_all = ⋂ F(context_len_i)</a:t>
            </a:r>
          </a:p>
        </p:txBody>
      </p:sp>
      <p:sp>
        <p:nvSpPr>
          <p:cNvPr id="13" name="s5-divider">
            <a:extLst xmlns:a="http://schemas.openxmlformats.org/drawingml/2006/main">
              <a:ext uri="{FF2B5EF4-FFF2-40B4-BE49-F238E27FC236}">
                <a16:creationId xmlns:a16="http://schemas.microsoft.com/office/drawing/2014/main" id="{B3712247-C74F-4AE0-AF13-C334587D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s5-right-title">
            <a:extLst xmlns:a="http://schemas.openxmlformats.org/drawingml/2006/main">
              <a:ext uri="{FF2B5EF4-FFF2-40B4-BE49-F238E27FC236}">
                <a16:creationId xmlns:a16="http://schemas.microsoft.com/office/drawing/2014/main" id="{2138300D-D530-4C70-9B33-FE4571EE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495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24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在可行域内才优化吞吐目标</a:t>
            </a:r>
          </a:p>
        </p:txBody>
      </p:sp>
      <p:sp>
        <p:nvSpPr>
          <p:cNvPr id="15" name="s5-stat1">
            <a:extLst xmlns:a="http://schemas.openxmlformats.org/drawingml/2006/main">
              <a:ext uri="{FF2B5EF4-FFF2-40B4-BE49-F238E27FC236}">
                <a16:creationId xmlns:a16="http://schemas.microsoft.com/office/drawing/2014/main" id="{81B18622-019A-4CAF-B81B-DEBBBD31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762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38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score(Q,S)</a:t>
            </a:r>
          </a:p>
        </p:txBody>
      </p:sp>
      <p:sp>
        <p:nvSpPr>
          <p:cNvPr id="16" name="s5-stat1-label">
            <a:extLst xmlns:a="http://schemas.openxmlformats.org/drawingml/2006/main">
              <a:ext uri="{FF2B5EF4-FFF2-40B4-BE49-F238E27FC236}">
                <a16:creationId xmlns:a16="http://schemas.microsoft.com/office/drawing/2014/main" id="{0AD1FD8D-2FAD-4AD5-BEAF-9293857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5750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= 100 × (w_Q·q_norm + w_S·s_norm)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q_norm、s_norm 为候选区间的对数归一化</a:t>
            </a:r>
          </a:p>
        </p:txBody>
      </p:sp>
      <p:sp>
        <p:nvSpPr>
          <p:cNvPr id="17" name="s5-stat2">
            <a:extLst xmlns:a="http://schemas.openxmlformats.org/drawingml/2006/main">
              <a:ext uri="{FF2B5EF4-FFF2-40B4-BE49-F238E27FC236}">
                <a16:creationId xmlns:a16="http://schemas.microsoft.com/office/drawing/2014/main" id="{6BECE0ED-FC8F-48D5-8D83-2E6691C8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24250"/>
            <a:ext cx="4762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92105"/>
          </a:bodyPr>
          <a:lstStyle xmlns:a="http://schemas.openxmlformats.org/drawingml/2006/main"/>
          <a:p xmlns:a="http://schemas.openxmlformats.org/drawingml/2006/main">
            <a:pPr algn="l"/>
            <a:r>
              <a:rPr sz="38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(Q*,S*) = argmax score</a:t>
            </a:r>
          </a:p>
        </p:txBody>
      </p:sp>
      <p:sp>
        <p:nvSpPr>
          <p:cNvPr id="18" name="s5-stat2-label">
            <a:extLst xmlns:a="http://schemas.openxmlformats.org/drawingml/2006/main">
              <a:ext uri="{FF2B5EF4-FFF2-40B4-BE49-F238E27FC236}">
                <a16:creationId xmlns:a16="http://schemas.microsoft.com/office/drawing/2014/main" id="{661976B5-45F7-43DD-9693-1695ABF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95750"/>
            <a:ext cx="4572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约束：(Q,S) ∈ F_all</a:t>
            </a:r>
          </a:p>
          <a:p xmlns:a="http://schemas.openxmlformats.org/drawingml/2006/main">
            <a:pPr algn="l"/>
            <a:r>
              <a:rPr sz="17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同分时按 fit_headroom、Q、S 稳定排序</a:t>
            </a:r>
          </a:p>
        </p:txBody>
      </p:sp>
      <p:sp>
        <p:nvSpPr>
          <p:cNvPr id="19" name="s5-gap">
            <a:extLst xmlns:a="http://schemas.openxmlformats.org/drawingml/2006/main">
              <a:ext uri="{FF2B5EF4-FFF2-40B4-BE49-F238E27FC236}">
                <a16:creationId xmlns:a16="http://schemas.microsoft.com/office/drawing/2014/main" id="{7F11D0F6-112A-42C2-9197-2F68080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00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20" name="s5-gap-t">
            <a:extLst xmlns:a="http://schemas.openxmlformats.org/drawingml/2006/main">
              <a:ext uri="{FF2B5EF4-FFF2-40B4-BE49-F238E27FC236}">
                <a16:creationId xmlns:a16="http://schemas.microsoft.com/office/drawing/2014/main" id="{F0CF3270-C4ED-4869-9122-22FC55CB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72050"/>
            <a:ext cx="43053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/>
            <a:r>
              <a:rPr sz="180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rPr>
              <a:t>同时输出 startup_limit_recommended 与 runtime_safe_recommended，避免单一“神奇常数”。</a:t>
            </a:r>
          </a:p>
        </p:txBody>
      </p:sp>
      <p:sp>
        <p:nvSpPr>
          <p:cNvPr id="21" name="source-5">
            <a:extLst xmlns:a="http://schemas.openxmlformats.org/drawingml/2006/main">
              <a:ext uri="{FF2B5EF4-FFF2-40B4-BE49-F238E27FC236}">
                <a16:creationId xmlns:a16="http://schemas.microsoft.com/office/drawing/2014/main" id="{6314AB17-C1E7-4A39-AFF0-AECED03F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来源：recommender.py；startup.py；THEORY_MODELING.md §1</a:t>
            </a:r>
          </a:p>
        </p:txBody>
      </p:sp>
      <p:sp>
        <p:nvSpPr>
          <p:cNvPr id="22" name="page-5">
            <a:extLst xmlns:a="http://schemas.openxmlformats.org/drawingml/2006/main">
              <a:ext uri="{FF2B5EF4-FFF2-40B4-BE49-F238E27FC236}">
                <a16:creationId xmlns:a16="http://schemas.microsoft.com/office/drawing/2014/main" id="{2B5D8A4F-95F5-4CFB-ABB2-032E6A0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61005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8">
            <a:extLst xmlns:a="http://schemas.openxmlformats.org/drawingml/2006/main">
              <a:ext uri="{FF2B5EF4-FFF2-40B4-BE49-F238E27FC236}">
                <a16:creationId xmlns:a16="http://schemas.microsoft.com/office/drawing/2014/main" id="{24BDF036-8D39-42D5-B763-2E3A4821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同一块 64 GiB HBM，对 1M 与 32K 请求给出截然不同的并发上限</a:t>
            </a:r>
          </a:p>
        </p:txBody>
      </p:sp>
      <p:sp>
        <p:nvSpPr>
          <p:cNvPr id="2" name="s8-intro">
            <a:extLst xmlns:a="http://schemas.openxmlformats.org/drawingml/2006/main">
              <a:ext uri="{FF2B5EF4-FFF2-40B4-BE49-F238E27FC236}">
                <a16:creationId xmlns:a16="http://schemas.microsoft.com/office/drawing/2014/main" id="{02DD8F5D-4989-4B70-A566-BB0137EC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04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Q 在两个场景均为 16,384；真正拉开配置的是每个 DP engine 可同时保留的历史序列数。</a:t>
            </a:r>
          </a:p>
        </p:txBody>
      </p:sp>
      <p:sp>
        <p:nvSpPr>
          <p:cNvPr id="3" name="s8-left">
            <a:extLst xmlns:a="http://schemas.openxmlformats.org/drawingml/2006/main">
              <a:ext uri="{FF2B5EF4-FFF2-40B4-BE49-F238E27FC236}">
                <a16:creationId xmlns:a16="http://schemas.microsoft.com/office/drawing/2014/main" id="{18C01E1C-1317-490A-B335-D4832101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5429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8-right">
            <a:extLst xmlns:a="http://schemas.openxmlformats.org/drawingml/2006/main">
              <a:ext uri="{FF2B5EF4-FFF2-40B4-BE49-F238E27FC236}">
                <a16:creationId xmlns:a16="http://schemas.microsoft.com/office/drawing/2014/main" id="{93E1FF0B-C873-41BE-BD9C-312B3417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5429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8-left-title">
            <a:extLst xmlns:a="http://schemas.openxmlformats.org/drawingml/2006/main">
              <a:ext uri="{FF2B5EF4-FFF2-40B4-BE49-F238E27FC236}">
                <a16:creationId xmlns:a16="http://schemas.microsoft.com/office/drawing/2014/main" id="{1F394A39-641F-4109-BC13-C39ED78C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1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最坏长度</a:t>
            </a:r>
          </a:p>
        </p:txBody>
      </p:sp>
      <p:sp>
        <p:nvSpPr>
          <p:cNvPr id="6" name="s8-left-stat">
            <a:extLst xmlns:a="http://schemas.openxmlformats.org/drawingml/2006/main">
              <a:ext uri="{FF2B5EF4-FFF2-40B4-BE49-F238E27FC236}">
                <a16:creationId xmlns:a16="http://schemas.microsoft.com/office/drawing/2014/main" id="{F61EF79B-71D0-4CF5-9AAB-34C06EAB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30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Q 16,384  /  S 2</a:t>
            </a:r>
          </a:p>
        </p:txBody>
      </p:sp>
      <p:sp>
        <p:nvSpPr>
          <p:cNvPr id="7" name="s8-left-detail">
            <a:extLst xmlns:a="http://schemas.openxmlformats.org/drawingml/2006/main">
              <a:ext uri="{FF2B5EF4-FFF2-40B4-BE49-F238E27FC236}">
                <a16:creationId xmlns:a16="http://schemas.microsoft.com/office/drawing/2014/main" id="{6AEB40CE-D8FE-4299-841F-312A49F1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Planning upper 50.40 GiB
Fit-basis headroom 7.20 GiB</a:t>
            </a:r>
          </a:p>
        </p:txBody>
      </p:sp>
      <p:sp>
        <p:nvSpPr>
          <p:cNvPr id="8" name="s8-right-title">
            <a:extLst xmlns:a="http://schemas.openxmlformats.org/drawingml/2006/main">
              <a:ext uri="{FF2B5EF4-FFF2-40B4-BE49-F238E27FC236}">
                <a16:creationId xmlns:a16="http://schemas.microsoft.com/office/drawing/2014/main" id="{90F27A2C-77FF-4294-A1F0-6D1C514B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762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21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32K 典型长度</a:t>
            </a:r>
          </a:p>
        </p:txBody>
      </p:sp>
      <p:sp>
        <p:nvSpPr>
          <p:cNvPr id="9" name="s8-right-stat">
            <a:extLst xmlns:a="http://schemas.openxmlformats.org/drawingml/2006/main">
              <a:ext uri="{FF2B5EF4-FFF2-40B4-BE49-F238E27FC236}">
                <a16:creationId xmlns:a16="http://schemas.microsoft.com/office/drawing/2014/main" id="{68EEA87D-4CC3-4D2B-83A7-16FD6077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300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Q 16,384  /  S 32</a:t>
            </a:r>
          </a:p>
        </p:txBody>
      </p:sp>
      <p:sp>
        <p:nvSpPr>
          <p:cNvPr id="10" name="s8-right-detail">
            <a:extLst xmlns:a="http://schemas.openxmlformats.org/drawingml/2006/main">
              <a:ext uri="{FF2B5EF4-FFF2-40B4-BE49-F238E27FC236}">
                <a16:creationId xmlns:a16="http://schemas.microsoft.com/office/drawing/2014/main" id="{515A6B8F-D2B4-42D4-976C-01753A50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4381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Planning upper 50.19 GiB
Fit-basis headroom 7.41 GiB</a:t>
            </a:r>
          </a:p>
        </p:txBody>
      </p:sp>
      <p:sp>
        <p:nvSpPr>
          <p:cNvPr id="11" name="s8-bottom">
            <a:extLst xmlns:a="http://schemas.openxmlformats.org/drawingml/2006/main">
              <a:ext uri="{FF2B5EF4-FFF2-40B4-BE49-F238E27FC236}">
                <a16:creationId xmlns:a16="http://schemas.microsoft.com/office/drawing/2014/main" id="{FA504E89-51BB-4110-8DED-34B72153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1391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s8-bottom-t">
            <a:extLst xmlns:a="http://schemas.openxmlformats.org/drawingml/2006/main">
              <a:ext uri="{FF2B5EF4-FFF2-40B4-BE49-F238E27FC236}">
                <a16:creationId xmlns:a16="http://schemas.microsoft.com/office/drawing/2014/main" id="{F08812D7-DDB0-4C0F-ADE0-D22FE082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85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425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一套服务同时覆盖两种长度时：统一推荐由 1M 场景限制为 Q=16,384、S=2；拆分服务池才能释放 32K 的并发能力。</a:t>
            </a:r>
          </a:p>
        </p:txBody>
      </p:sp>
      <p:sp>
        <p:nvSpPr>
          <p:cNvPr id="13" name="source-8">
            <a:extLst xmlns:a="http://schemas.openxmlformats.org/drawingml/2006/main">
              <a:ext uri="{FF2B5EF4-FFF2-40B4-BE49-F238E27FC236}">
                <a16:creationId xmlns:a16="http://schemas.microsoft.com/office/drawing/2014/main" id="{CE135DAA-60D6-4B68-A38C-6222ABFA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场景假设：一个 DP engine 上全部 S 条序列同时达到该 context_len；这是保守的无抢占容量语义</a:t>
            </a:r>
          </a:p>
        </p:txBody>
      </p:sp>
      <p:sp>
        <p:nvSpPr>
          <p:cNvPr id="14" name="page-8">
            <a:extLst xmlns:a="http://schemas.openxmlformats.org/drawingml/2006/main">
              <a:ext uri="{FF2B5EF4-FFF2-40B4-BE49-F238E27FC236}">
                <a16:creationId xmlns:a16="http://schemas.microsoft.com/office/drawing/2014/main" id="{EA11EC99-AA8C-4B02-8971-05C4CF44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87222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9">
            <a:extLst xmlns:a="http://schemas.openxmlformats.org/drawingml/2006/main">
              <a:ext uri="{FF2B5EF4-FFF2-40B4-BE49-F238E27FC236}">
                <a16:creationId xmlns:a16="http://schemas.microsoft.com/office/drawing/2014/main" id="{33A71095-0512-45FB-AB76-BA9503ED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模型把不可部署的 Q=81,920 收敛到可验证的安全区间</a:t>
            </a:r>
          </a:p>
        </p:txBody>
      </p:sp>
      <p:sp>
        <p:nvSpPr>
          <p:cNvPr id="2" name="s9-chart-label">
            <a:extLst xmlns:a="http://schemas.openxmlformats.org/drawingml/2006/main">
              <a:ext uri="{FF2B5EF4-FFF2-40B4-BE49-F238E27FC236}">
                <a16:creationId xmlns:a16="http://schemas.microsoft.com/office/drawing/2014/main" id="{2B694920-EAF7-43F4-AFC2-9C55338B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666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场景规划上界对比（GiB / die）</a:t>
            </a:r>
          </a:p>
        </p:txBody>
      </p:sp>
      <p:sp>
        <p:nvSpPr>
          <p:cNvPr id="3" name="s9-callout">
            <a:extLst xmlns:a="http://schemas.openxmlformats.org/drawingml/2006/main">
              <a:ext uri="{FF2B5EF4-FFF2-40B4-BE49-F238E27FC236}">
                <a16:creationId xmlns:a16="http://schemas.microsoft.com/office/drawing/2014/main" id="{8C1DCA0D-B420-42C9-9840-32530D7E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95450"/>
            <a:ext cx="3848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9-callout-t">
            <a:extLst xmlns:a="http://schemas.openxmlformats.org/drawingml/2006/main">
              <a:ext uri="{FF2B5EF4-FFF2-40B4-BE49-F238E27FC236}">
                <a16:creationId xmlns:a16="http://schemas.microsoft.com/office/drawing/2014/main" id="{B2E9548F-C30E-455F-A1CB-BB7A8488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3276600" cy="224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80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关键结论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Q=81,920 时，即使仅 1 条 1M 长序列，上界也达到 92.55 GiB。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推荐点 Q=16,384、S=2 的上界为 50.40 GiB，在支持 2 条长序列的同时回到预算内。</a:t>
            </a:r>
          </a:p>
        </p:txBody>
      </p:sp>
      <p:sp>
        <p:nvSpPr>
          <p:cNvPr id="5" name="s9-meaning">
            <a:extLst xmlns:a="http://schemas.openxmlformats.org/drawingml/2006/main">
              <a:ext uri="{FF2B5EF4-FFF2-40B4-BE49-F238E27FC236}">
                <a16:creationId xmlns:a16="http://schemas.microsoft.com/office/drawing/2014/main" id="{6A5FD850-1F69-4C1B-B8CC-B1CB2D2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19650"/>
            <a:ext cx="3848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s9-meaning-t">
            <a:extLst xmlns:a="http://schemas.openxmlformats.org/drawingml/2006/main">
              <a:ext uri="{FF2B5EF4-FFF2-40B4-BE49-F238E27FC236}">
                <a16:creationId xmlns:a16="http://schemas.microsoft.com/office/drawing/2014/main" id="{EB4461DE-DAAF-4CFB-8174-734BB78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3352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6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意义：调小 Q 不是“浪费容量”，而是用瞬时 prefill 空间换取可部署性与历史并发。</a:t>
            </a:r>
          </a:p>
        </p:txBody>
      </p:sp>
      <p:sp>
        <p:nvSpPr>
          <p:cNvPr id="7" name="source-9">
            <a:extLst xmlns:a="http://schemas.openxmlformats.org/drawingml/2006/main">
              <a:ext uri="{FF2B5EF4-FFF2-40B4-BE49-F238E27FC236}">
                <a16:creationId xmlns:a16="http://schemas.microsoft.com/office/drawing/2014/main" id="{C05EF7EA-7845-4C73-BFEA-369D19CC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比较口径：Q=81,920/S=1 与推荐 Q=16,384/S=2；预算 = 64 × 0.9 = 57.60 GiB</a:t>
            </a:r>
          </a:p>
        </p:txBody>
      </p:sp>
      <p:sp>
        <p:nvSpPr>
          <p:cNvPr id="8" name="page-9">
            <a:extLst xmlns:a="http://schemas.openxmlformats.org/drawingml/2006/main">
              <a:ext uri="{FF2B5EF4-FFF2-40B4-BE49-F238E27FC236}">
                <a16:creationId xmlns:a16="http://schemas.microsoft.com/office/drawing/2014/main" id="{2E3E2A3B-4A19-468B-9BD7-C36B3417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13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1676400"/>
          <a:ext xmlns:a="http://schemas.openxmlformats.org/drawingml/2006/main" cx="6667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666a88b53741ca"/>
          </a:graphicData>
        </a:graphic>
      </p:graphicFrame>
    </p:spTree>
    <p:extLst>
      <p:ext uri="{BB962C8B-B14F-4D97-AF65-F5344CB8AC3E}">
        <p14:creationId xmlns:p14="http://schemas.microsoft.com/office/powerpoint/2010/main" val="18920720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0">
            <a:extLst xmlns:a="http://schemas.openxmlformats.org/drawingml/2006/main">
              <a:ext uri="{FF2B5EF4-FFF2-40B4-BE49-F238E27FC236}">
                <a16:creationId xmlns:a16="http://schemas.microsoft.com/office/drawing/2014/main" id="{AB5DE37D-DA91-444B-B904-036B65A3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Frontier 揭示 Q 与并发可交换，而不是给出一个“神奇常数”</a:t>
            </a:r>
          </a:p>
        </p:txBody>
      </p:sp>
      <p:sp>
        <p:nvSpPr>
          <p:cNvPr id="2" name="s10-chart-label">
            <a:extLst xmlns:a="http://schemas.openxmlformats.org/drawingml/2006/main">
              <a:ext uri="{FF2B5EF4-FFF2-40B4-BE49-F238E27FC236}">
                <a16:creationId xmlns:a16="http://schemas.microsoft.com/office/drawing/2014/main" id="{0D77EC82-DEB1-4A4D-8373-AE771B66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6762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固定 max_num_seqs 时的最大可行 Q</a:t>
            </a:r>
          </a:p>
        </p:txBody>
      </p:sp>
      <p:sp>
        <p:nvSpPr>
          <p:cNvPr id="3" name="s10-card1">
            <a:extLst xmlns:a="http://schemas.openxmlformats.org/drawingml/2006/main">
              <a:ext uri="{FF2B5EF4-FFF2-40B4-BE49-F238E27FC236}">
                <a16:creationId xmlns:a16="http://schemas.microsoft.com/office/drawing/2014/main" id="{38530DBE-4F28-4DFC-88D9-A970BC28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562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4" name="s10-card2">
            <a:extLst xmlns:a="http://schemas.openxmlformats.org/drawingml/2006/main">
              <a:ext uri="{FF2B5EF4-FFF2-40B4-BE49-F238E27FC236}">
                <a16:creationId xmlns:a16="http://schemas.microsoft.com/office/drawing/2014/main" id="{5168B1EA-3C5E-4141-B97C-9743806B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95650"/>
            <a:ext cx="35623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5" name="s10-card3">
            <a:extLst xmlns:a="http://schemas.openxmlformats.org/drawingml/2006/main">
              <a:ext uri="{FF2B5EF4-FFF2-40B4-BE49-F238E27FC236}">
                <a16:creationId xmlns:a16="http://schemas.microsoft.com/office/drawing/2014/main" id="{BC2D3904-CE69-4751-9642-D192186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57750"/>
            <a:ext cx="3562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s10-card1-t">
            <a:extLst xmlns:a="http://schemas.openxmlformats.org/drawingml/2006/main">
              <a:ext uri="{FF2B5EF4-FFF2-40B4-BE49-F238E27FC236}">
                <a16:creationId xmlns:a16="http://schemas.microsoft.com/office/drawing/2014/main" id="{F576CB2F-E0C7-46CF-B552-8AABFCF2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1M 长上下文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S=4 时最大 Q 仅 4,096；S≥8 时候选集中已无可行点。</a:t>
            </a:r>
          </a:p>
        </p:txBody>
      </p:sp>
      <p:sp>
        <p:nvSpPr>
          <p:cNvPr id="7" name="s10-card2-t">
            <a:extLst xmlns:a="http://schemas.openxmlformats.org/drawingml/2006/main">
              <a:ext uri="{FF2B5EF4-FFF2-40B4-BE49-F238E27FC236}">
                <a16:creationId xmlns:a16="http://schemas.microsoft.com/office/drawing/2014/main" id="{99B3E0FE-A17E-4653-8B5B-A0BAD049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05200"/>
            <a:ext cx="3067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32K 典型上下文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S=32 时 Q=16,384；S=64 时需将 Q 降至 4,096。</a:t>
            </a:r>
          </a:p>
        </p:txBody>
      </p:sp>
      <p:sp>
        <p:nvSpPr>
          <p:cNvPr id="8" name="s10-card3-t">
            <a:extLst xmlns:a="http://schemas.openxmlformats.org/drawingml/2006/main">
              <a:ext uri="{FF2B5EF4-FFF2-40B4-BE49-F238E27FC236}">
                <a16:creationId xmlns:a16="http://schemas.microsoft.com/office/drawing/2014/main" id="{E69220A5-F103-465E-858E-A534F45E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05400"/>
            <a:ext cx="3067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865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Frontier 让产品规格可以按 TTFT、吞吐和并发 SLA 选择，而不是只输出单点答案。</a:t>
            </a:r>
          </a:p>
        </p:txBody>
      </p:sp>
      <p:sp>
        <p:nvSpPr>
          <p:cNvPr id="9" name="source-10">
            <a:extLst xmlns:a="http://schemas.openxmlformats.org/drawingml/2006/main">
              <a:ext uri="{FF2B5EF4-FFF2-40B4-BE49-F238E27FC236}">
                <a16:creationId xmlns:a16="http://schemas.microsoft.com/office/drawing/2014/main" id="{6126493B-266C-41F7-B5C2-EC92ACB6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注：图中 0 表示当前候选集合无可行配置；筛选口径为 planning_upper + 2 GiB minimum headroom</a:t>
            </a:r>
          </a:p>
        </p:txBody>
      </p:sp>
      <p:sp>
        <p:nvSpPr>
          <p:cNvPr id="10" name="page-10">
            <a:extLst xmlns:a="http://schemas.openxmlformats.org/drawingml/2006/main">
              <a:ext uri="{FF2B5EF4-FFF2-40B4-BE49-F238E27FC236}">
                <a16:creationId xmlns:a16="http://schemas.microsoft.com/office/drawing/2014/main" id="{F221E4C8-B8E7-4E56-9FEC-76C68A07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14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00050" y="1600200"/>
          <a:ext xmlns:a="http://schemas.openxmlformats.org/drawingml/2006/main" cx="6953250" cy="4495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f3806985854a17"/>
          </a:graphicData>
        </a:graphic>
      </p:graphicFrame>
    </p:spTree>
    <p:extLst>
      <p:ext uri="{BB962C8B-B14F-4D97-AF65-F5344CB8AC3E}">
        <p14:creationId xmlns:p14="http://schemas.microsoft.com/office/powerpoint/2010/main" val="2690751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1">
            <a:extLst xmlns:a="http://schemas.openxmlformats.org/drawingml/2006/main">
              <a:ext uri="{FF2B5EF4-FFF2-40B4-BE49-F238E27FC236}">
                <a16:creationId xmlns:a16="http://schemas.microsoft.com/office/drawing/2014/main" id="{F0DF909F-5533-48FB-8BA4-21AA0FDC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技术价值：把配置风险、规格决策和版本演进纳入可审计模型</a:t>
            </a:r>
          </a:p>
        </p:txBody>
      </p:sp>
      <p:sp>
        <p:nvSpPr>
          <p:cNvPr id="2" name="s11-v">
            <a:extLst xmlns:a="http://schemas.openxmlformats.org/drawingml/2006/main">
              <a:ext uri="{FF2B5EF4-FFF2-40B4-BE49-F238E27FC236}">
                <a16:creationId xmlns:a16="http://schemas.microsoft.com/office/drawing/2014/main" id="{6FED6C64-969A-43A9-92E8-6627BB5A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76400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s11-h">
            <a:extLst xmlns:a="http://schemas.openxmlformats.org/drawingml/2006/main">
              <a:ext uri="{FF2B5EF4-FFF2-40B4-BE49-F238E27FC236}">
                <a16:creationId xmlns:a16="http://schemas.microsoft.com/office/drawing/2014/main" id="{0AC2D039-AAAD-49FE-AFAC-DCFDE878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s11-1">
            <a:extLst xmlns:a="http://schemas.openxmlformats.org/drawingml/2006/main">
              <a:ext uri="{FF2B5EF4-FFF2-40B4-BE49-F238E27FC236}">
                <a16:creationId xmlns:a16="http://schemas.microsoft.com/office/drawing/2014/main" id="{C6886E10-74E5-46EA-B529-4D9D5157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5219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风险可解释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不再用“剩余 HBM”猜 OOM；每个组件都有来源、上界、余量和 unresolved 标记。</a:t>
            </a:r>
          </a:p>
        </p:txBody>
      </p:sp>
      <p:sp>
        <p:nvSpPr>
          <p:cNvPr id="5" name="s11-2">
            <a:extLst xmlns:a="http://schemas.openxmlformats.org/drawingml/2006/main">
              <a:ext uri="{FF2B5EF4-FFF2-40B4-BE49-F238E27FC236}">
                <a16:creationId xmlns:a16="http://schemas.microsoft.com/office/drawing/2014/main" id="{E7B4768A-DA24-4FD5-B4C6-6300A1E0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097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调参更聚焦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先排除明显不可行点，再在 frontier 附近压测，减少盲目遍历配置空间。</a:t>
            </a:r>
          </a:p>
        </p:txBody>
      </p:sp>
      <p:sp>
        <p:nvSpPr>
          <p:cNvPr id="6" name="s11-3">
            <a:extLst xmlns:a="http://schemas.openxmlformats.org/drawingml/2006/main">
              <a:ext uri="{FF2B5EF4-FFF2-40B4-BE49-F238E27FC236}">
                <a16:creationId xmlns:a16="http://schemas.microsoft.com/office/drawing/2014/main" id="{3CF51463-7C60-450D-9501-B85ADE27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52197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规格可复现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相同 JSON 输入得到相同推荐，便于跨机器、模型版本和并行方案对齐容量口径。</a:t>
            </a:r>
          </a:p>
        </p:txBody>
      </p:sp>
      <p:sp>
        <p:nvSpPr>
          <p:cNvPr id="7" name="s11-4">
            <a:extLst xmlns:a="http://schemas.openxmlformats.org/drawingml/2006/main">
              <a:ext uri="{FF2B5EF4-FFF2-40B4-BE49-F238E27FC236}">
                <a16:creationId xmlns:a16="http://schemas.microsoft.com/office/drawing/2014/main" id="{90159223-0435-4D44-9FD0-8B831952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模型可演进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425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权重、activation、non-Torch、Graph、Workspace 均可用实测值覆盖；KV 布局按版本切换。</a:t>
            </a:r>
          </a:p>
        </p:txBody>
      </p:sp>
      <p:sp>
        <p:nvSpPr>
          <p:cNvPr id="8" name="s11-bottom">
            <a:extLst xmlns:a="http://schemas.openxmlformats.org/drawingml/2006/main">
              <a:ext uri="{FF2B5EF4-FFF2-40B4-BE49-F238E27FC236}">
                <a16:creationId xmlns:a16="http://schemas.microsoft.com/office/drawing/2014/main" id="{303C274F-BB8E-46BD-8E77-5D5E9444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76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5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核心意义：把“单次调参经验”沉淀为可解释、可校准、可比较的容量工程能力。</a:t>
            </a:r>
          </a:p>
        </p:txBody>
      </p:sp>
      <p:sp>
        <p:nvSpPr>
          <p:cNvPr id="9" name="source-11">
            <a:extLst xmlns:a="http://schemas.openxmlformats.org/drawingml/2006/main">
              <a:ext uri="{FF2B5EF4-FFF2-40B4-BE49-F238E27FC236}">
                <a16:creationId xmlns:a16="http://schemas.microsoft.com/office/drawing/2014/main" id="{B1666120-BBF4-4B4B-9168-03B9EBAF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模型输出用于部署决策与压测选点；它不直接预测网络通信、TTFT、TPOT 或端到端吞吐</a:t>
            </a:r>
          </a:p>
        </p:txBody>
      </p:sp>
      <p:sp>
        <p:nvSpPr>
          <p:cNvPr id="10" name="page-11">
            <a:extLst xmlns:a="http://schemas.openxmlformats.org/drawingml/2006/main">
              <a:ext uri="{FF2B5EF4-FFF2-40B4-BE49-F238E27FC236}">
                <a16:creationId xmlns:a16="http://schemas.microsoft.com/office/drawing/2014/main" id="{CDC85D73-DDB0-4409-8A60-D029DA4F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352208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12">
            <a:extLst xmlns:a="http://schemas.openxmlformats.org/drawingml/2006/main">
              <a:ext uri="{FF2B5EF4-FFF2-40B4-BE49-F238E27FC236}">
                <a16:creationId xmlns:a16="http://schemas.microsoft.com/office/drawing/2014/main" id="{A5B459A3-DE33-4C85-81AD-ABD27534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300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用实测校准完成闭环，再把推荐值固化为规格基线</a:t>
            </a:r>
          </a:p>
        </p:txBody>
      </p:sp>
      <p:cxnSp>
        <p:nvCxnSpPr>
          <p:cNvPr id="24" name="s12-line"/>
          <p:cNvCxnSpPr/>
          <p:nvPr/>
        </p:nvCxnSpPr>
        <p:spPr>
          <a:xfrm xmlns:a="http://schemas.openxmlformats.org/drawingml/2006/main">
            <a:off x="1524000" y="3714750"/>
            <a:ext cx="9144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s12-dot1">
            <a:extLst xmlns:a="http://schemas.openxmlformats.org/drawingml/2006/main">
              <a:ext uri="{FF2B5EF4-FFF2-40B4-BE49-F238E27FC236}">
                <a16:creationId xmlns:a16="http://schemas.microsoft.com/office/drawing/2014/main" id="{1A07E9F0-A931-438D-BCA8-2850133D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s12-dot2">
            <a:extLst xmlns:a="http://schemas.openxmlformats.org/drawingml/2006/main">
              <a:ext uri="{FF2B5EF4-FFF2-40B4-BE49-F238E27FC236}">
                <a16:creationId xmlns:a16="http://schemas.microsoft.com/office/drawing/2014/main" id="{64985ACF-1565-42C0-AE44-7F389696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s12-dot3">
            <a:extLst xmlns:a="http://schemas.openxmlformats.org/drawingml/2006/main">
              <a:ext uri="{FF2B5EF4-FFF2-40B4-BE49-F238E27FC236}">
                <a16:creationId xmlns:a16="http://schemas.microsoft.com/office/drawing/2014/main" id="{13044D38-7F60-4B10-9E65-5B840FA7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s12-c1">
            <a:extLst xmlns:a="http://schemas.openxmlformats.org/drawingml/2006/main">
              <a:ext uri="{FF2B5EF4-FFF2-40B4-BE49-F238E27FC236}">
                <a16:creationId xmlns:a16="http://schemas.microsoft.com/office/drawing/2014/main" id="{3637165C-18CC-4E92-BDD5-4D7B018B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3200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7" name="s12-c2">
            <a:extLst xmlns:a="http://schemas.openxmlformats.org/drawingml/2006/main">
              <a:ext uri="{FF2B5EF4-FFF2-40B4-BE49-F238E27FC236}">
                <a16:creationId xmlns:a16="http://schemas.microsoft.com/office/drawing/2014/main" id="{9DA793A5-48D1-4D64-A482-47B9CAB3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00200"/>
            <a:ext cx="3200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s12-c3">
            <a:extLst xmlns:a="http://schemas.openxmlformats.org/drawingml/2006/main">
              <a:ext uri="{FF2B5EF4-FFF2-40B4-BE49-F238E27FC236}">
                <a16:creationId xmlns:a16="http://schemas.microsoft.com/office/drawing/2014/main" id="{AD1DF132-9C79-4BFD-B9DD-4DA02CA0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00200"/>
            <a:ext cx="32004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s12-t1">
            <a:extLst xmlns:a="http://schemas.openxmlformats.org/drawingml/2006/main">
              <a:ext uri="{FF2B5EF4-FFF2-40B4-BE49-F238E27FC236}">
                <a16:creationId xmlns:a16="http://schemas.microsoft.com/office/drawing/2014/main" id="{A4373C0E-24EF-4AD7-8371-302ADA5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2667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922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1  结构化首算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输入 HBM、模型参数、切分策略、Q/S 候选与长度分布，生成首版 frontier。</a:t>
            </a:r>
          </a:p>
        </p:txBody>
      </p:sp>
      <p:sp>
        <p:nvSpPr>
          <p:cNvPr id="10" name="s12-t2">
            <a:extLst xmlns:a="http://schemas.openxmlformats.org/drawingml/2006/main">
              <a:ext uri="{FF2B5EF4-FFF2-40B4-BE49-F238E27FC236}">
                <a16:creationId xmlns:a16="http://schemas.microsoft.com/office/drawing/2014/main" id="{0888B54B-BC20-423E-A180-BBFC156D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2667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2  节点实测校准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解析实际权重与启动 profile；补齐 CANN workspace、ACL Graph 和 non-Torch。</a:t>
            </a:r>
          </a:p>
        </p:txBody>
      </p:sp>
      <p:sp>
        <p:nvSpPr>
          <p:cNvPr id="11" name="s12-t3">
            <a:extLst xmlns:a="http://schemas.openxmlformats.org/drawingml/2006/main">
              <a:ext uri="{FF2B5EF4-FFF2-40B4-BE49-F238E27FC236}">
                <a16:creationId xmlns:a16="http://schemas.microsoft.com/office/drawing/2014/main" id="{2166EE2D-921F-409E-851D-8D625FFF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05000"/>
            <a:ext cx="2667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3  压测与固化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在推荐点及相邻 frontier 点验证 OOM、抢占、TTFT、TPOT 和吞吐，形成规格基线。</a:t>
            </a:r>
          </a:p>
        </p:txBody>
      </p:sp>
      <p:sp>
        <p:nvSpPr>
          <p:cNvPr id="12" name="s12-date1">
            <a:extLst xmlns:a="http://schemas.openxmlformats.org/drawingml/2006/main">
              <a:ext uri="{FF2B5EF4-FFF2-40B4-BE49-F238E27FC236}">
                <a16:creationId xmlns:a16="http://schemas.microsoft.com/office/drawing/2014/main" id="{BC022294-4BB4-4A4B-9D8E-094EB2E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005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分析模型</a:t>
            </a:r>
          </a:p>
        </p:txBody>
      </p:sp>
      <p:sp>
        <p:nvSpPr>
          <p:cNvPr id="13" name="s12-date2">
            <a:extLst xmlns:a="http://schemas.openxmlformats.org/drawingml/2006/main">
              <a:ext uri="{FF2B5EF4-FFF2-40B4-BE49-F238E27FC236}">
                <a16:creationId xmlns:a16="http://schemas.microsoft.com/office/drawing/2014/main" id="{6CC979E8-5EC5-4BE2-9AB3-1A40311B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0005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实测校准</a:t>
            </a:r>
          </a:p>
        </p:txBody>
      </p:sp>
      <p:sp>
        <p:nvSpPr>
          <p:cNvPr id="14" name="s12-date3">
            <a:extLst xmlns:a="http://schemas.openxmlformats.org/drawingml/2006/main">
              <a:ext uri="{FF2B5EF4-FFF2-40B4-BE49-F238E27FC236}">
                <a16:creationId xmlns:a16="http://schemas.microsoft.com/office/drawing/2014/main" id="{D69A0466-D714-467E-94D2-832DC8A0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00050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defRPr>
            </a:pPr>
            <a:r>
              <a:rPr sz="1350" b="0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规格发布</a:t>
            </a:r>
          </a:p>
        </p:txBody>
      </p:sp>
      <p:sp>
        <p:nvSpPr>
          <p:cNvPr id="15" name="s12-closing">
            <a:extLst xmlns:a="http://schemas.openxmlformats.org/drawingml/2006/main">
              <a:ext uri="{FF2B5EF4-FFF2-40B4-BE49-F238E27FC236}">
                <a16:creationId xmlns:a16="http://schemas.microsoft.com/office/drawing/2014/main" id="{519B894B-AF04-4679-89D8-7383ED25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Aft>
                <a:spcPts val="0"/>
              </a:spcAft>
              <a:buNone/>
              <a:defRPr sz="2250">
                <a:solidFill>
                  <a:srgbClr val="00000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最终交付的不只是一个数字，而是</a:t>
            </a:r>
            <a:r>
              <a:rPr sz="2250" b="1">
                <a:solidFill>
                  <a:srgbClr val="3D8DFF"/>
                </a:solidFill>
                <a:latin typeface="Noto Sans CJK SC Medium"/>
                <a:ea typeface="Noto Sans CJK SC Medium"/>
                <a:cs typeface="Noto Sans CJK SC Medium"/>
              </a:rPr>
              <a:t>“推荐值 + 上界 + 余量 + 备选边界 + 数据来源”</a:t>
            </a:r>
            <a:r>
              <a:rPr sz="2250" b="1">
                <a:solidFill>
                  <a:srgbClr val="000000"/>
                </a:solidFill>
                <a:latin typeface="Noto Sans CJK SC Medium"/>
                <a:ea typeface="Noto Sans CJK SC Medium"/>
                <a:cs typeface="Noto Sans CJK SC Medium"/>
              </a:rPr>
              <a:t>。</a:t>
            </a:r>
          </a:p>
        </p:txBody>
      </p:sp>
      <p:sp>
        <p:nvSpPr>
          <p:cNvPr id="16" name="s12-limit">
            <a:extLst xmlns:a="http://schemas.openxmlformats.org/drawingml/2006/main">
              <a:ext uri="{FF2B5EF4-FFF2-40B4-BE49-F238E27FC236}">
                <a16:creationId xmlns:a16="http://schemas.microsoft.com/office/drawing/2014/main" id="{D6C8ED50-69FD-4AA7-A74C-F45BFA49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1047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当前边界：DeepSeek-V4-Flash 内置 profile；未知 Workspace reserve 是保守占位；推荐器不替代真实业务压测。</a:t>
            </a:r>
          </a:p>
        </p:txBody>
      </p:sp>
      <p:sp>
        <p:nvSpPr>
          <p:cNvPr id="17" name="source-12">
            <a:extLst xmlns:a="http://schemas.openxmlformats.org/drawingml/2006/main">
              <a:ext uri="{FF2B5EF4-FFF2-40B4-BE49-F238E27FC236}">
                <a16:creationId xmlns:a16="http://schemas.microsoft.com/office/drawing/2014/main" id="{DA1B94FF-DFA0-4E7E-B1E2-3F3402FB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9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建议下一步：接入目标 910C 节点启动日志与 CANN workspace 数据，完成模型校准和规格验收</a:t>
            </a:r>
          </a:p>
        </p:txBody>
      </p:sp>
      <p:sp>
        <p:nvSpPr>
          <p:cNvPr id="18" name="page-12">
            <a:extLst xmlns:a="http://schemas.openxmlformats.org/drawingml/2006/main">
              <a:ext uri="{FF2B5EF4-FFF2-40B4-BE49-F238E27FC236}">
                <a16:creationId xmlns:a16="http://schemas.microsoft.com/office/drawing/2014/main" id="{EAC807B5-E55D-4AC5-9CE1-9A7253EE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198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/>
            <a:r>
              <a:rPr sz="1200">
                <a:solidFill>
                  <a:srgbClr val="5F6670"/>
                </a:solidFill>
                <a:latin typeface="Noto Sans CJK SC"/>
                <a:ea typeface="Noto Sans CJK SC"/>
                <a:cs typeface="Noto Sans CJK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22379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2026-08-14T06:49:57.2320000Z</dcterms:created>
  <dcterms:modified xsi:type="dcterms:W3CDTF">2026-08-14T06:49:57.2320000Z</dcterms:modified>
</coreProperties>
</file>