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c8ed11b24469e" /><Relationship Type="http://schemas.openxmlformats.org/officeDocument/2006/relationships/extended-properties" Target="/docProps/app.xml" Id="R06547dfc1b0b449c" /><Relationship Type="http://schemas.openxmlformats.org/officeDocument/2006/relationships/officeDocument" Target="/ppt/presentation.xml" Id="Rf4790c1056dd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2e813c40b34760"/>
  </p:sldMasterIdLst>
  <p:notesMasterIdLst>
    <p:notesMasterId xmlns:r="http://schemas.openxmlformats.org/officeDocument/2006/relationships" r:id="R8ee7276b3d1f4607"/>
  </p:notesMasterIdLst>
  <p:sldIdLst>
    <p:sldId xmlns:r="http://schemas.openxmlformats.org/officeDocument/2006/relationships" id="256" r:id="R2b5678a92aed4e99"/>
    <p:sldId xmlns:r="http://schemas.openxmlformats.org/officeDocument/2006/relationships" id="257" r:id="Rb4a3a7cf72bf4b6e"/>
    <p:sldId xmlns:r="http://schemas.openxmlformats.org/officeDocument/2006/relationships" id="258" r:id="R3ea3816552454b2e"/>
    <p:sldId xmlns:r="http://schemas.openxmlformats.org/officeDocument/2006/relationships" id="259" r:id="R6d065299eb3c4a47"/>
    <p:sldId xmlns:r="http://schemas.openxmlformats.org/officeDocument/2006/relationships" id="260" r:id="R243cf7da72e64281"/>
    <p:sldId xmlns:r="http://schemas.openxmlformats.org/officeDocument/2006/relationships" id="261" r:id="R42d6138c4cc74ffd"/>
    <p:sldId xmlns:r="http://schemas.openxmlformats.org/officeDocument/2006/relationships" id="262" r:id="R25e49fbfd625469c"/>
    <p:sldId xmlns:r="http://schemas.openxmlformats.org/officeDocument/2006/relationships" id="263" r:id="Ra4632a96f8c74539"/>
    <p:sldId xmlns:r="http://schemas.openxmlformats.org/officeDocument/2006/relationships" id="264" r:id="R2f275dccc6a64a61"/>
    <p:sldId xmlns:r="http://schemas.openxmlformats.org/officeDocument/2006/relationships" id="265" r:id="R7f8c526625ac4e74"/>
    <p:sldId xmlns:r="http://schemas.openxmlformats.org/officeDocument/2006/relationships" id="266" r:id="R004c13b80b1f42fe"/>
    <p:sldId xmlns:r="http://schemas.openxmlformats.org/officeDocument/2006/relationships" id="267" r:id="R053296583fdd4e44"/>
    <p:sldId xmlns:r="http://schemas.openxmlformats.org/officeDocument/2006/relationships" id="268" r:id="R81085c9c2cad449d"/>
    <p:sldId xmlns:r="http://schemas.openxmlformats.org/officeDocument/2006/relationships" id="269" r:id="R69f3de4b436840d8"/>
    <p:sldId xmlns:r="http://schemas.openxmlformats.org/officeDocument/2006/relationships" id="270" r:id="R149171eedc894b66"/>
    <p:sldId xmlns:r="http://schemas.openxmlformats.org/officeDocument/2006/relationships" id="271" r:id="R95242c1bd06e4847"/>
    <p:sldId xmlns:r="http://schemas.openxmlformats.org/officeDocument/2006/relationships" id="272" r:id="R1ead372afbd74fc7"/>
    <p:sldId xmlns:r="http://schemas.openxmlformats.org/officeDocument/2006/relationships" id="273" r:id="Rc4804499068147e5"/>
    <p:sldId xmlns:r="http://schemas.openxmlformats.org/officeDocument/2006/relationships" id="274" r:id="R6d976af109ca437c"/>
    <p:sldId xmlns:r="http://schemas.openxmlformats.org/officeDocument/2006/relationships" id="275" r:id="R363d86055728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716ee47a040e0" /><Relationship Type="http://schemas.openxmlformats.org/officeDocument/2006/relationships/slideMaster" Target="/ppt/slideMasters/slideMaster1.xml" Id="R952e813c40b34760" /><Relationship Type="http://schemas.openxmlformats.org/officeDocument/2006/relationships/notesMaster" Target="/ppt/notesMasters/notesMaster1.xml" Id="R8ee7276b3d1f4607" /><Relationship Type="http://schemas.openxmlformats.org/officeDocument/2006/relationships/presProps" Target="/ppt/presProps.xml" Id="Re2e9ca6d60c64aa3" /><Relationship Type="http://schemas.openxmlformats.org/officeDocument/2006/relationships/tableStyles" Target="/ppt/tableStyles.xml" Id="R0a400539026c4c1b" /><Relationship Type="http://schemas.openxmlformats.org/officeDocument/2006/relationships/slide" Target="/ppt/slides/slide1.xml" Id="R2b5678a92aed4e99" /><Relationship Type="http://schemas.openxmlformats.org/officeDocument/2006/relationships/slide" Target="/ppt/slides/slide2.xml" Id="Rb4a3a7cf72bf4b6e" /><Relationship Type="http://schemas.openxmlformats.org/officeDocument/2006/relationships/slide" Target="/ppt/slides/slide3.xml" Id="R3ea3816552454b2e" /><Relationship Type="http://schemas.openxmlformats.org/officeDocument/2006/relationships/slide" Target="/ppt/slides/slide4.xml" Id="R6d065299eb3c4a47" /><Relationship Type="http://schemas.openxmlformats.org/officeDocument/2006/relationships/slide" Target="/ppt/slides/slide5.xml" Id="R243cf7da72e64281" /><Relationship Type="http://schemas.openxmlformats.org/officeDocument/2006/relationships/slide" Target="/ppt/slides/slide6.xml" Id="R42d6138c4cc74ffd" /><Relationship Type="http://schemas.openxmlformats.org/officeDocument/2006/relationships/slide" Target="/ppt/slides/slide7.xml" Id="R25e49fbfd625469c" /><Relationship Type="http://schemas.openxmlformats.org/officeDocument/2006/relationships/slide" Target="/ppt/slides/slide8.xml" Id="Ra4632a96f8c74539" /><Relationship Type="http://schemas.openxmlformats.org/officeDocument/2006/relationships/slide" Target="/ppt/slides/slide9.xml" Id="R2f275dccc6a64a61" /><Relationship Type="http://schemas.openxmlformats.org/officeDocument/2006/relationships/slide" Target="/ppt/slides/slide10.xml" Id="R7f8c526625ac4e74" /><Relationship Type="http://schemas.openxmlformats.org/officeDocument/2006/relationships/slide" Target="/ppt/slides/slide11.xml" Id="R004c13b80b1f42fe" /><Relationship Type="http://schemas.openxmlformats.org/officeDocument/2006/relationships/slide" Target="/ppt/slides/slide12.xml" Id="R053296583fdd4e44" /><Relationship Type="http://schemas.openxmlformats.org/officeDocument/2006/relationships/slide" Target="/ppt/slides/slide13.xml" Id="R81085c9c2cad449d" /><Relationship Type="http://schemas.openxmlformats.org/officeDocument/2006/relationships/slide" Target="/ppt/slides/slide14.xml" Id="R69f3de4b436840d8" /><Relationship Type="http://schemas.openxmlformats.org/officeDocument/2006/relationships/slide" Target="/ppt/slides/slide15.xml" Id="R149171eedc894b66" /><Relationship Type="http://schemas.openxmlformats.org/officeDocument/2006/relationships/slide" Target="/ppt/slides/slide16.xml" Id="R95242c1bd06e4847" /><Relationship Type="http://schemas.openxmlformats.org/officeDocument/2006/relationships/slide" Target="/ppt/slides/slide17.xml" Id="R1ead372afbd74fc7" /><Relationship Type="http://schemas.openxmlformats.org/officeDocument/2006/relationships/slide" Target="/ppt/slides/slide18.xml" Id="Rc4804499068147e5" /><Relationship Type="http://schemas.openxmlformats.org/officeDocument/2006/relationships/slide" Target="/ppt/slides/slide19.xml" Id="R6d976af109ca437c" /><Relationship Type="http://schemas.openxmlformats.org/officeDocument/2006/relationships/slide" Target="/ppt/slides/slide20.xml" Id="R363d86055728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ebded0b6f9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f0973ac26407c" /><Relationship Type="http://schemas.openxmlformats.org/officeDocument/2006/relationships/notesMaster" Target="/ppt/notesMasters/notesMaster1.xml" Id="Ra6da6ed8f615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1be02f7dc4ef9" /><Relationship Type="http://schemas.openxmlformats.org/officeDocument/2006/relationships/notesMaster" Target="/ppt/notesMasters/notesMaster1.xml" Id="Rf6b4da429adc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e4a7aaf2a4fda" /><Relationship Type="http://schemas.openxmlformats.org/officeDocument/2006/relationships/notesMaster" Target="/ppt/notesMasters/notesMaster1.xml" Id="R43f4a2cd728a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4bbc129fd43ec" /><Relationship Type="http://schemas.openxmlformats.org/officeDocument/2006/relationships/notesMaster" Target="/ppt/notesMasters/notesMaster1.xml" Id="Rad72165b4f71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96aa3bfd84d12" /><Relationship Type="http://schemas.openxmlformats.org/officeDocument/2006/relationships/notesMaster" Target="/ppt/notesMasters/notesMaster1.xml" Id="R04e76e2ef584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1d0d8ab4346d3" /><Relationship Type="http://schemas.openxmlformats.org/officeDocument/2006/relationships/notesMaster" Target="/ppt/notesMasters/notesMaster1.xml" Id="R689c233283c7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19df2e2ac493d" /><Relationship Type="http://schemas.openxmlformats.org/officeDocument/2006/relationships/notesMaster" Target="/ppt/notesMasters/notesMaster1.xml" Id="Re189f1787b84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3d1a65e68d4868" /><Relationship Type="http://schemas.openxmlformats.org/officeDocument/2006/relationships/notesMaster" Target="/ppt/notesMasters/notesMaster1.xml" Id="Rbf86296eced94c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88883da10c436b" /><Relationship Type="http://schemas.openxmlformats.org/officeDocument/2006/relationships/notesMaster" Target="/ppt/notesMasters/notesMaster1.xml" Id="Rcd779e4bed64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f9b203335e4057" /><Relationship Type="http://schemas.openxmlformats.org/officeDocument/2006/relationships/notesMaster" Target="/ppt/notesMasters/notesMaster1.xml" Id="R06d9ac95d12741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b630afc96e4ebb" /><Relationship Type="http://schemas.openxmlformats.org/officeDocument/2006/relationships/notesMaster" Target="/ppt/notesMasters/notesMaster1.xml" Id="Rdb5b1b7bdc8e4b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5a0dde9804dd5" /><Relationship Type="http://schemas.openxmlformats.org/officeDocument/2006/relationships/notesMaster" Target="/ppt/notesMasters/notesMaster1.xml" Id="R7fc46c5682474d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894dbfb4624444" /><Relationship Type="http://schemas.openxmlformats.org/officeDocument/2006/relationships/notesMaster" Target="/ppt/notesMasters/notesMaster1.xml" Id="R52dda9bd695f4f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8b256c859f43b9" /><Relationship Type="http://schemas.openxmlformats.org/officeDocument/2006/relationships/notesMaster" Target="/ppt/notesMasters/notesMaster1.xml" Id="Rb043a082cf1448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641682cfd24473" /><Relationship Type="http://schemas.openxmlformats.org/officeDocument/2006/relationships/notesMaster" Target="/ppt/notesMasters/notesMaster1.xml" Id="Rb939952c50da49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4aeb6f003a4c42" /><Relationship Type="http://schemas.openxmlformats.org/officeDocument/2006/relationships/notesMaster" Target="/ppt/notesMasters/notesMaster1.xml" Id="R6312ee6fde1941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ac5efd0a5b442a" /><Relationship Type="http://schemas.openxmlformats.org/officeDocument/2006/relationships/notesMaster" Target="/ppt/notesMasters/notesMaster1.xml" Id="Re973e4e1c4aa43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0e0d46a93b4a0b" /><Relationship Type="http://schemas.openxmlformats.org/officeDocument/2006/relationships/notesMaster" Target="/ppt/notesMasters/notesMaster1.xml" Id="R2fa87db122e642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9e095492754a45" /><Relationship Type="http://schemas.openxmlformats.org/officeDocument/2006/relationships/notesMaster" Target="/ppt/notesMasters/notesMaster1.xml" Id="R437a5ca3151647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4c1ca8f2a64dbb" /><Relationship Type="http://schemas.openxmlformats.org/officeDocument/2006/relationships/notesMaster" Target="/ppt/notesMasters/notesMaster1.xml" Id="Rf2f1ca0c91d6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docs/THEORY_MODELING.md §1
- src/vllm_ascend_hbm/startup.py
- src/vllm_ascend_hbm/engine.py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src/vllm_ascend_hbm/kv/deepseek_v4_v023.py
- docs/THEORY_MODELING.md 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https://github.com/vllm-project/vllm-ascend/blob/v0.23.0rc1/vllm_ascend/patch/platform/patch_kv_cache_utils.py#L946-L1017</a:t>
            </a:r>
          </a:p>
          <a:p xmlns:a="http://schemas.openxmlformats.org/drawingml/2006/main">
            <a:r>
              <a:t>- src/vllm_ascend_hbm/kv/deepseek_v4_v023.py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https://github.com/vllm-project/vllm-ascend/blob/v0.23.0rc1/vllm_ascend/patch/platform/patch_kv_cache_utils.py#L1090-L1158</a:t>
            </a:r>
          </a:p>
          <a:p xmlns:a="http://schemas.openxmlformats.org/drawingml/2006/main">
            <a:r>
              <a:t>- src/vllm_ascend_hbm/kv/deepseek_v4_flash.py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src/vllm_ascend_hbm/kv/deepseek_v4_v023.py</a:t>
            </a:r>
          </a:p>
          <a:p xmlns:a="http://schemas.openxmlformats.org/drawingml/2006/main">
            <a:r>
              <a:t>- tests/test_deepseek_v4_v023_kv.py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tests/fixtures/run_32768_8x2_47104.log</a:t>
            </a:r>
          </a:p>
          <a:p xmlns:a="http://schemas.openxmlformats.org/drawingml/2006/main">
            <a:r>
              <a:t>- tests/test_deepseek_v4_v023_kv.py</a:t>
            </a:r>
          </a:p>
          <a:p xmlns:a="http://schemas.openxmlformats.org/drawingml/2006/main">
            <a:r>
              <a:t>- src/vllm_ascend_hbm/kv/deepseek_v4_v023.py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src/vllm_ascend_hbm/weight_models/deepseek_v4_w8a8.py
- src/vllm_ascend_hbm/weight_models/persistent_buffers.py
- src/vllm_ascend_hbm/components.py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src/vllm_ascend_hbm/recommender.py
- src/vllm_ascend_hbm/startup.py
- docs/THEORY_MODELING.md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594c4ea0c42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e604712b143e2" /><Relationship Type="http://schemas.openxmlformats.org/officeDocument/2006/relationships/slideLayout" Target="/ppt/slideLayouts/slideLayout1.xml" Id="R3fb7bf6917bf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7bf6917bf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94144c75444e7" /><Relationship Type="http://schemas.openxmlformats.org/officeDocument/2006/relationships/notesSlide" Target="/ppt/notesSlides/notesSlide1.xml" Id="R49359722cc12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1ac2b496a435c" /><Relationship Type="http://schemas.openxmlformats.org/officeDocument/2006/relationships/notesSlide" Target="/ppt/notesSlides/notesSlide2.xml" Id="R98fbf908d71e4f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cab73e86419f" /><Relationship Type="http://schemas.openxmlformats.org/officeDocument/2006/relationships/notesSlide" Target="/ppt/notesSlides/notesSlide3.xml" Id="Rbf41058bf0e443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f9a2658fa4ec6" /><Relationship Type="http://schemas.openxmlformats.org/officeDocument/2006/relationships/notesSlide" Target="/ppt/notesSlides/notesSlide4.xml" Id="R292bfa33b0a545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54a24cf5343b3" /><Relationship Type="http://schemas.openxmlformats.org/officeDocument/2006/relationships/notesSlide" Target="/ppt/notesSlides/notesSlide5.xml" Id="Rd762275b63c54f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24b503dfd4113" /><Relationship Type="http://schemas.openxmlformats.org/officeDocument/2006/relationships/notesSlide" Target="/ppt/notesSlides/notesSlide6.xml" Id="Rec837225f772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2f693f73842b5" /><Relationship Type="http://schemas.openxmlformats.org/officeDocument/2006/relationships/notesSlide" Target="/ppt/notesSlides/notesSlide7.xml" Id="Rfc877efaaaa2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c7c31ec074d8b" /><Relationship Type="http://schemas.openxmlformats.org/officeDocument/2006/relationships/notesSlide" Target="/ppt/notesSlides/notesSlide8.xml" Id="R51168646205b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db722f76411c" /><Relationship Type="http://schemas.openxmlformats.org/officeDocument/2006/relationships/notesSlide" Target="/ppt/notesSlides/notesSlide9.xml" Id="Ra3e0a0074c8049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70b4fa1704357" /><Relationship Type="http://schemas.openxmlformats.org/officeDocument/2006/relationships/notesSlide" Target="/ppt/notesSlides/notesSlide10.xml" Id="Ra43a3585b1f64c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b6c833e204b55" /><Relationship Type="http://schemas.openxmlformats.org/officeDocument/2006/relationships/notesSlide" Target="/ppt/notesSlides/notesSlide11.xml" Id="R5d6f9b1f88e940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0e865d974b06" /><Relationship Type="http://schemas.openxmlformats.org/officeDocument/2006/relationships/chart" Target="/ppt/slides/charts/chart1.xml" Id="R46c16fe2dac54147" /><Relationship Type="http://schemas.openxmlformats.org/officeDocument/2006/relationships/notesSlide" Target="/ppt/notesSlides/notesSlide12.xml" Id="R909772b768b94d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90e8a70444759" /><Relationship Type="http://schemas.openxmlformats.org/officeDocument/2006/relationships/notesSlide" Target="/ppt/notesSlides/notesSlide13.xml" Id="R8f636127a37b40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b9cd11e324762" /><Relationship Type="http://schemas.openxmlformats.org/officeDocument/2006/relationships/notesSlide" Target="/ppt/notesSlides/notesSlide14.xml" Id="Ra4dbed45d3154b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bb9f6223a42c5" /><Relationship Type="http://schemas.openxmlformats.org/officeDocument/2006/relationships/notesSlide" Target="/ppt/notesSlides/notesSlide15.xml" Id="R5842a8a0b8d44b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7ea1ce2494d65" /><Relationship Type="http://schemas.openxmlformats.org/officeDocument/2006/relationships/notesSlide" Target="/ppt/notesSlides/notesSlide16.xml" Id="Ra7c3edf4082a4b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1fd5db8b4883" /><Relationship Type="http://schemas.openxmlformats.org/officeDocument/2006/relationships/chart" Target="/ppt/slides/charts/chart2.xml" Id="R933f91aeecb34025" /><Relationship Type="http://schemas.openxmlformats.org/officeDocument/2006/relationships/notesSlide" Target="/ppt/notesSlides/notesSlide17.xml" Id="R1eebe454b2894a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376751c94138" /><Relationship Type="http://schemas.openxmlformats.org/officeDocument/2006/relationships/chart" Target="/ppt/slides/charts/chart3.xml" Id="R17080dda6129413e" /><Relationship Type="http://schemas.openxmlformats.org/officeDocument/2006/relationships/notesSlide" Target="/ppt/notesSlides/notesSlide18.xml" Id="R2b3a755dd1ca45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9fe910dee4f71" /><Relationship Type="http://schemas.openxmlformats.org/officeDocument/2006/relationships/notesSlide" Target="/ppt/notesSlides/notesSlide19.xml" Id="Rd0cfa94aa0b141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b28318ad4f8b" /><Relationship Type="http://schemas.openxmlformats.org/officeDocument/2006/relationships/notesSlide" Target="/ppt/notesSlides/notesSlide20.xml" Id="R0b4526fda5bf45a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权重</c:v>
              </c:pt>
              <c:pt idx="1">
                <c:v>KV planner</c:v>
              </c:pt>
              <c:pt idx="2">
                <c:v>激活</c:v>
              </c:pt>
              <c:pt idx="3">
                <c:v>Runtime</c:v>
              </c:pt>
              <c:pt idx="4">
                <c:v>Workspace占位</c:v>
              </c:pt>
              <c:pt idx="5">
                <c:v>碎片+安全</c:v>
              </c:pt>
            </c:strLit>
          </c:cat>
          <c:val>
            <c:numLit>
              <c:formatCode>General</c:formatCode>
              <c:ptCount val="6"/>
              <c:pt idx="0">
                <c:v>18.28</c:v>
              </c:pt>
              <c:pt idx="1">
                <c:v>22.71</c:v>
              </c:pt>
              <c:pt idx="2">
                <c:v>2.62</c:v>
              </c:pt>
              <c:pt idx="3">
                <c:v>0.25</c:v>
              </c:pt>
              <c:pt idx="4">
                <c:v>2</c:v>
              </c:pt>
              <c:pt idx="5">
                <c:v>1.81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Q81920 / S1</c:v>
              </c:pt>
              <c:pt idx="1">
                <c:v>推荐 Q16384 / S2</c:v>
              </c:pt>
              <c:pt idx="2">
                <c:v>可用预算</c:v>
              </c:pt>
            </c:strLit>
          </c:cat>
          <c:val>
            <c:numLit>
              <c:formatCode>General</c:formatCode>
              <c:ptCount val="3"/>
              <c:pt idx="0">
                <c:v>92.55</c:v>
              </c:pt>
              <c:pt idx="1">
                <c:v>50.4</c:v>
              </c:pt>
              <c:pt idx="2">
                <c:v>57.6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1M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16384</c:v>
              </c:pt>
              <c:pt idx="1">
                <c:v>16384</c:v>
              </c:pt>
              <c:pt idx="2">
                <c:v>4096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ser>
          <c:idx val="1"/>
          <c:order val="1"/>
          <c:tx>
            <c:v>32K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32768</c:v>
              </c:pt>
              <c:pt idx="1">
                <c:v>32768</c:v>
              </c:pt>
              <c:pt idx="2">
                <c:v>32768</c:v>
              </c:pt>
              <c:pt idx="3">
                <c:v>32768</c:v>
              </c:pt>
              <c:pt idx="4">
                <c:v>16384</c:v>
              </c:pt>
              <c:pt idx="5">
                <c:v>16384</c:v>
              </c:pt>
              <c:pt idx="6">
                <c:v>4096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max_num_seqs / DP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36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 feasible Q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8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65FF9C-5682-428F-B407-50D6862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技术汇报｜vLLM Ascend · DeepSeek-V4-Flash · 910C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68AFAB-0754-4CB3-81C2-C86A99C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4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把配置调优变成
</a:t>
            </a:r>
            <a:r>
              <a:rPr sz="4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可解释的 HBM 容量推荐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177F21-7C6D-4148-921A-C17E43D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857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面向 max_num_batched_tokens / max_num_seqs 的峰值内存建模、边界搜索与规格推荐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61A4257-B70F-4F6F-AE52-4951D7F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19650"/>
            <a:ext cx="1657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E2BC19-1CC2-40C1-8DE4-199EBC5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HBM Modeling &amp; Configuration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12382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7F7EC0E5-F837-4BAB-83BB-F974A5A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单看“每 token 约 5 KB”会系统性低估峰值 HBM</a:t>
            </a:r>
          </a:p>
        </p:txBody>
      </p:sp>
      <p:sp>
        <p:nvSpPr>
          <p:cNvPr id="2" name="s2-message">
            <a:extLst xmlns:a="http://schemas.openxmlformats.org/drawingml/2006/main">
              <a:ext uri="{FF2B5EF4-FFF2-40B4-BE49-F238E27FC236}">
                <a16:creationId xmlns:a16="http://schemas.microsoft.com/office/drawing/2014/main" id="{E58EF79D-45F7-4AE9-B903-230B318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049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单位 KV 成本只是起点；</a:t>
            </a:r>
            <a:r>
              <a:rPr sz="25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1M 历史块、并发倍增和 prefill 瞬时内存</a:t>
            </a: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共同决定是否 OOM。</a:t>
            </a:r>
          </a:p>
        </p:txBody>
      </p:sp>
      <p:sp>
        <p:nvSpPr>
          <p:cNvPr id="3" name="s2-c1">
            <a:extLst xmlns:a="http://schemas.openxmlformats.org/drawingml/2006/main">
              <a:ext uri="{FF2B5EF4-FFF2-40B4-BE49-F238E27FC236}">
                <a16:creationId xmlns:a16="http://schemas.microsoft.com/office/drawing/2014/main" id="{DD20A493-9357-4D81-9732-B7E75E1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2-c2">
            <a:extLst xmlns:a="http://schemas.openxmlformats.org/drawingml/2006/main">
              <a:ext uri="{FF2B5EF4-FFF2-40B4-BE49-F238E27FC236}">
                <a16:creationId xmlns:a16="http://schemas.microsoft.com/office/drawing/2014/main" id="{1BDBE8B0-3A05-43E1-8A5B-4D41639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2-c3">
            <a:extLst xmlns:a="http://schemas.openxmlformats.org/drawingml/2006/main">
              <a:ext uri="{FF2B5EF4-FFF2-40B4-BE49-F238E27FC236}">
                <a16:creationId xmlns:a16="http://schemas.microsoft.com/office/drawing/2014/main" id="{E5AA571B-0D33-4471-9E73-B1B0A54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2-c1-text">
            <a:extLst xmlns:a="http://schemas.openxmlformats.org/drawingml/2006/main">
              <a:ext uri="{FF2B5EF4-FFF2-40B4-BE49-F238E27FC236}">
                <a16:creationId xmlns:a16="http://schemas.microsoft.com/office/drawing/2014/main" id="{769B07E7-88A9-4CBD-9CF9-F42EF64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L｜历史长度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历史 KV/state block 随有效上下文增长；并发序列会把历史容量成倍放大。</a:t>
            </a:r>
          </a:p>
        </p:txBody>
      </p:sp>
      <p:sp>
        <p:nvSpPr>
          <p:cNvPr id="7" name="s2-c2-text">
            <a:extLst xmlns:a="http://schemas.openxmlformats.org/drawingml/2006/main">
              <a:ext uri="{FF2B5EF4-FFF2-40B4-BE49-F238E27FC236}">
                <a16:creationId xmlns:a16="http://schemas.microsoft.com/office/drawing/2014/main" id="{2178F78F-9200-4D46-B0DC-A9D684F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Q｜批处理 token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max_num_batched_tokens 决定 prefill 激活、瞬态 KV/state 和输入缓冲峰值。</a:t>
            </a:r>
          </a:p>
        </p:txBody>
      </p:sp>
      <p:sp>
        <p:nvSpPr>
          <p:cNvPr id="8" name="s2-c3-text">
            <a:extLst xmlns:a="http://schemas.openxmlformats.org/drawingml/2006/main">
              <a:ext uri="{FF2B5EF4-FFF2-40B4-BE49-F238E27FC236}">
                <a16:creationId xmlns:a16="http://schemas.microsoft.com/office/drawing/2014/main" id="{A43100D9-73BC-4263-B634-F82C66B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S｜在途序列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max_num_seqs 决定一个 DP engine 同时保留多少条历史；它不能脱离长度单独推荐。</a:t>
            </a:r>
          </a:p>
        </p:txBody>
      </p:sp>
      <p:sp>
        <p:nvSpPr>
          <p:cNvPr id="9" name="s2-evidence">
            <a:extLst xmlns:a="http://schemas.openxmlformats.org/drawingml/2006/main">
              <a:ext uri="{FF2B5EF4-FFF2-40B4-BE49-F238E27FC236}">
                <a16:creationId xmlns:a16="http://schemas.microsoft.com/office/drawing/2014/main" id="{4AF7F60D-C8C7-4E82-8996-5456AD0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示例：Q=81,920、1M 上下文，即使只有 1 条长序列，规划上界约 92.55 GiB；而可用预算仅 57.60 GiB。</a:t>
            </a:r>
          </a:p>
        </p:txBody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625A115E-573D-477A-955B-7EA7839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来源：本项目计算器默认配置与 v0.20 KV/BlockPool 模型输出</a:t>
            </a:r>
          </a:p>
        </p:txBody>
      </p:sp>
      <p:sp>
        <p:nvSpPr>
          <p:cNvPr id="11" name="page-2">
            <a:extLst xmlns:a="http://schemas.openxmlformats.org/drawingml/2006/main">
              <a:ext uri="{FF2B5EF4-FFF2-40B4-BE49-F238E27FC236}">
                <a16:creationId xmlns:a16="http://schemas.microsoft.com/office/drawing/2014/main" id="{E39FF379-C165-48BA-8AC5-7A11C17D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1704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3">
            <a:extLst xmlns:a="http://schemas.openxmlformats.org/drawingml/2006/main">
              <a:ext uri="{FF2B5EF4-FFF2-40B4-BE49-F238E27FC236}">
                <a16:creationId xmlns:a16="http://schemas.microsoft.com/office/drawing/2014/main" id="{D5E16749-86CF-43F9-AC44-B6A80E7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峰值 HBM 拆成七类来源，并区分实际张量与规划容量</a:t>
            </a:r>
          </a:p>
        </p:txBody>
      </p:sp>
      <p:sp>
        <p:nvSpPr>
          <p:cNvPr id="2" name="s3-formula">
            <a:extLst xmlns:a="http://schemas.openxmlformats.org/drawingml/2006/main">
              <a:ext uri="{FF2B5EF4-FFF2-40B4-BE49-F238E27FC236}">
                <a16:creationId xmlns:a16="http://schemas.microsoft.com/office/drawing/2014/main" id="{46D80802-41DA-4B69-9D29-42A04307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Total HBM = 权重 + KV/state + 激活 + Workspace + Graph + Runtime + 碎片/安全余量</a:t>
            </a:r>
          </a:p>
        </p:txBody>
      </p:sp>
      <p:cxnSp>
        <p:nvCxnSpPr>
          <p:cNvPr id="42" name="s3-a1"/>
          <p:cNvCxnSpPr/>
          <p:nvPr/>
        </p:nvCxnSpPr>
        <p:spPr>
          <a:xfrm xmlns:a="http://schemas.openxmlformats.org/drawingml/2006/main">
            <a:off x="2019300" y="3028950"/>
            <a:ext cx="9334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3" name="s3-a2"/>
          <p:cNvCxnSpPr/>
          <p:nvPr/>
        </p:nvCxnSpPr>
        <p:spPr>
          <a:xfrm xmlns:a="http://schemas.openxmlformats.org/drawingml/2006/main">
            <a:off x="5905500" y="302895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4" name="s3-a3"/>
          <p:cNvCxnSpPr/>
          <p:nvPr/>
        </p:nvCxnSpPr>
        <p:spPr>
          <a:xfrm xmlns:a="http://schemas.openxmlformats.org/drawingml/2006/main">
            <a:off x="9525000" y="3028950"/>
            <a:ext cx="8572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s3-input">
            <a:extLst xmlns:a="http://schemas.openxmlformats.org/drawingml/2006/main">
              <a:ext uri="{FF2B5EF4-FFF2-40B4-BE49-F238E27FC236}">
                <a16:creationId xmlns:a16="http://schemas.microsoft.com/office/drawing/2014/main" id="{C706EF8E-08C1-4182-89B7-FFFF3A5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3-components">
            <a:extLst xmlns:a="http://schemas.openxmlformats.org/drawingml/2006/main">
              <a:ext uri="{FF2B5EF4-FFF2-40B4-BE49-F238E27FC236}">
                <a16:creationId xmlns:a16="http://schemas.microsoft.com/office/drawing/2014/main" id="{15D0883B-49AE-4256-A80D-5C6D275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3-total">
            <a:extLst xmlns:a="http://schemas.openxmlformats.org/drawingml/2006/main">
              <a:ext uri="{FF2B5EF4-FFF2-40B4-BE49-F238E27FC236}">
                <a16:creationId xmlns:a16="http://schemas.microsoft.com/office/drawing/2014/main" id="{91E32E50-5001-41F7-A17C-D0D2E86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3-fit">
            <a:extLst xmlns:a="http://schemas.openxmlformats.org/drawingml/2006/main">
              <a:ext uri="{FF2B5EF4-FFF2-40B4-BE49-F238E27FC236}">
                <a16:creationId xmlns:a16="http://schemas.microsoft.com/office/drawing/2014/main" id="{7DE97382-8E97-4047-B6E4-61A31E9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140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3-input-text">
            <a:extLst xmlns:a="http://schemas.openxmlformats.org/drawingml/2006/main">
              <a:ext uri="{FF2B5EF4-FFF2-40B4-BE49-F238E27FC236}">
                <a16:creationId xmlns:a16="http://schemas.microsoft.com/office/drawing/2014/main" id="{C01F9731-B2EE-47BE-B15D-494B2ED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123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输入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硬件
模型
并行
运行配置</a:t>
            </a:r>
          </a:p>
        </p:txBody>
      </p:sp>
      <p:sp>
        <p:nvSpPr>
          <p:cNvPr id="11" name="s3-comp-text">
            <a:extLst xmlns:a="http://schemas.openxmlformats.org/drawingml/2006/main">
              <a:ext uri="{FF2B5EF4-FFF2-40B4-BE49-F238E27FC236}">
                <a16:creationId xmlns:a16="http://schemas.microsoft.com/office/drawing/2014/main" id="{315C3A15-8966-4A8E-A3EA-10B772B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28850"/>
            <a:ext cx="2381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内存组件模型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可解析：权重 / KV 页面
结构估算：激活 / Runtime
需校准：Workspace / Graph</a:t>
            </a:r>
          </a:p>
        </p:txBody>
      </p:sp>
      <p:sp>
        <p:nvSpPr>
          <p:cNvPr id="12" name="s3-total-text">
            <a:extLst xmlns:a="http://schemas.openxmlformats.org/drawingml/2006/main">
              <a:ext uri="{FF2B5EF4-FFF2-40B4-BE49-F238E27FC236}">
                <a16:creationId xmlns:a16="http://schemas.microsoft.com/office/drawing/2014/main" id="{4EF24BEC-D800-4A4E-AE51-460AA09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21526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两套容量口径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Actual：physical KV 张量
Planning：替换为 BlockPool planner 容量
Upper：叠加组件不确定性</a:t>
            </a:r>
          </a:p>
        </p:txBody>
      </p:sp>
      <p:sp>
        <p:nvSpPr>
          <p:cNvPr id="13" name="s3-fit-text">
            <a:extLst xmlns:a="http://schemas.openxmlformats.org/drawingml/2006/main">
              <a:ext uri="{FF2B5EF4-FFF2-40B4-BE49-F238E27FC236}">
                <a16:creationId xmlns:a16="http://schemas.microsoft.com/office/drawing/2014/main" id="{4E694968-D575-473E-AB81-C063DDB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95550"/>
            <a:ext cx="1066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6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可行性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预算
上界
余量</a:t>
            </a:r>
          </a:p>
        </p:txBody>
      </p:sp>
      <p:sp>
        <p:nvSpPr>
          <p:cNvPr id="14" name="s3-actual">
            <a:extLst xmlns:a="http://schemas.openxmlformats.org/drawingml/2006/main">
              <a:ext uri="{FF2B5EF4-FFF2-40B4-BE49-F238E27FC236}">
                <a16:creationId xmlns:a16="http://schemas.microsoft.com/office/drawing/2014/main" id="{3200BCB0-4F9A-4C14-B135-863AACF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s3-planning">
            <a:extLst xmlns:a="http://schemas.openxmlformats.org/drawingml/2006/main">
              <a:ext uri="{FF2B5EF4-FFF2-40B4-BE49-F238E27FC236}">
                <a16:creationId xmlns:a16="http://schemas.microsoft.com/office/drawing/2014/main" id="{F2B67158-DB30-477A-B77B-115411B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43450"/>
            <a:ext cx="4343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s3-actual-text">
            <a:extLst xmlns:a="http://schemas.openxmlformats.org/drawingml/2006/main">
              <a:ext uri="{FF2B5EF4-FFF2-40B4-BE49-F238E27FC236}">
                <a16:creationId xmlns:a16="http://schemas.microsoft.com/office/drawing/2014/main" id="{95F00F32-0DCB-4563-952D-7CCC2A3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72050"/>
            <a:ext cx="3733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实际峰值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KV + 非 KV + fragmentation + safety</a:t>
            </a:r>
          </a:p>
        </p:txBody>
      </p:sp>
      <p:sp>
        <p:nvSpPr>
          <p:cNvPr id="17" name="s3-planning-text">
            <a:extLst xmlns:a="http://schemas.openxmlformats.org/drawingml/2006/main">
              <a:ext uri="{FF2B5EF4-FFF2-40B4-BE49-F238E27FC236}">
                <a16:creationId xmlns:a16="http://schemas.microsoft.com/office/drawing/2014/main" id="{185A50BC-3A64-4B8F-83BC-A0A0007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72050"/>
            <a:ext cx="3886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规划峰值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actual − physical KV + planner KV</a:t>
            </a:r>
          </a:p>
        </p:txBody>
      </p:sp>
      <p:sp>
        <p:nvSpPr>
          <p:cNvPr id="18" name="source-3">
            <a:extLst xmlns:a="http://schemas.openxmlformats.org/drawingml/2006/main">
              <a:ext uri="{FF2B5EF4-FFF2-40B4-BE49-F238E27FC236}">
                <a16:creationId xmlns:a16="http://schemas.microsoft.com/office/drawing/2014/main" id="{890C1FDB-A159-4C63-939E-0482032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方法口径：per logical NPU/die；HBM budget = physical HBM × gpu_memory_utilization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28347E7B-6451-4817-9BCA-9A24EC9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762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启动可用 KV 与运行峰值必须按不同生命周期计算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启动准入口径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请求预算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M_req = U × M_visible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可用 KV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M_avail = M_req − M_load − M_act − M_nonTorch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899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最低准入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M_minKV(L,Q,B) ≤ M_avail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Graph 阶段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M_postKV + M_graph ≤ M_startup_free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生命周期边界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Graph 在 KV 规划后检查，不从 M_avail 再扣一次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运行安全口径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M_available KV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M_req − M_load − M_act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  − M_nonTorch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M_runtime peak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M_load + M_KV + M_act + M_workspace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  + M_graph + M_runtime + M_fragmentation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判定规则：startup_pass ∧ runtime_safe；运行安全推荐不得超过启动极限。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来源：THEORY_MODELING.md；startup.py；engine.py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994F23DB-2E87-43C6-86B2-D6B8897A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推荐所需输入可归结为四组：硬件、模型、并行与运行场景</a:t>
            </a:r>
          </a:p>
        </p:txBody>
      </p:sp>
      <p:sp>
        <p:nvSpPr>
          <p:cNvPr id="2" name="s4-vline">
            <a:extLst xmlns:a="http://schemas.openxmlformats.org/drawingml/2006/main">
              <a:ext uri="{FF2B5EF4-FFF2-40B4-BE49-F238E27FC236}">
                <a16:creationId xmlns:a16="http://schemas.microsoft.com/office/drawing/2014/main" id="{89569634-D643-4525-B692-5C3C0E7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4-hline">
            <a:extLst xmlns:a="http://schemas.openxmlformats.org/drawingml/2006/main">
              <a:ext uri="{FF2B5EF4-FFF2-40B4-BE49-F238E27FC236}">
                <a16:creationId xmlns:a16="http://schemas.microsoft.com/office/drawing/2014/main" id="{528327C4-8590-4E8A-B77C-F6805B4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4-1">
            <a:extLst xmlns:a="http://schemas.openxmlformats.org/drawingml/2006/main">
              <a:ext uri="{FF2B5EF4-FFF2-40B4-BE49-F238E27FC236}">
                <a16:creationId xmlns:a16="http://schemas.microsoft.com/office/drawing/2014/main" id="{2C8DD122-E636-4F51-9F30-6F8304B5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01  硬件预算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每个可见 die 的 HBM 容量
gpu_memory_utilization
设备与 vLLM Ascend 版本</a:t>
            </a:r>
          </a:p>
        </p:txBody>
      </p:sp>
      <p:sp>
        <p:nvSpPr>
          <p:cNvPr id="5" name="s4-2">
            <a:extLst xmlns:a="http://schemas.openxmlformats.org/drawingml/2006/main">
              <a:ext uri="{FF2B5EF4-FFF2-40B4-BE49-F238E27FC236}">
                <a16:creationId xmlns:a16="http://schemas.microsoft.com/office/drawing/2014/main" id="{AC7E3C59-7ACB-4983-8A04-1AC7C69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02  模型与权重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层数、hidden、attention、MoE、MTP
量化位宽与 safetensors 路径
实测 per-rank 权重覆盖</a:t>
            </a:r>
          </a:p>
        </p:txBody>
      </p:sp>
      <p:sp>
        <p:nvSpPr>
          <p:cNvPr id="6" name="s4-3">
            <a:extLst xmlns:a="http://schemas.openxmlformats.org/drawingml/2006/main">
              <a:ext uri="{FF2B5EF4-FFF2-40B4-BE49-F238E27FC236}">
                <a16:creationId xmlns:a16="http://schemas.microsoft.com/office/drawing/2014/main" id="{B22C0236-87F2-42FF-89E3-9FEEC68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03  并行切分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DP / TP / PP / EP
PCP / DCP 对每 rank token 与 KV 页面影响
DP 复制权重、分散全局并发</a:t>
            </a:r>
          </a:p>
        </p:txBody>
      </p:sp>
      <p:sp>
        <p:nvSpPr>
          <p:cNvPr id="7" name="s4-4">
            <a:extLst xmlns:a="http://schemas.openxmlformats.org/drawingml/2006/main">
              <a:ext uri="{FF2B5EF4-FFF2-40B4-BE49-F238E27FC236}">
                <a16:creationId xmlns:a16="http://schemas.microsoft.com/office/drawing/2014/main" id="{0C6069DC-E17B-431A-98FF-00847CF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04  调度与业务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block_size / max_model_len
Q、S 候选集合与目标函数
典型长度和最坏长度场景</a:t>
            </a:r>
          </a:p>
        </p:txBody>
      </p:sp>
      <p:sp>
        <p:nvSpPr>
          <p:cNvPr id="8" name="s4-note">
            <a:extLst xmlns:a="http://schemas.openxmlformats.org/drawingml/2006/main">
              <a:ext uri="{FF2B5EF4-FFF2-40B4-BE49-F238E27FC236}">
                <a16:creationId xmlns:a16="http://schemas.microsoft.com/office/drawing/2014/main" id="{2867454F-511B-44DD-BB39-A53EBA1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JSON 输入 → 可复现计算 → 直接输出 vLLM 启动参数与备选边界</a:t>
            </a:r>
          </a:p>
        </p:txBody>
      </p:sp>
      <p:sp>
        <p:nvSpPr>
          <p:cNvPr id="9" name="source-4">
            <a:extLst xmlns:a="http://schemas.openxmlformats.org/drawingml/2006/main">
              <a:ext uri="{FF2B5EF4-FFF2-40B4-BE49-F238E27FC236}">
                <a16:creationId xmlns:a16="http://schemas.microsoft.com/office/drawing/2014/main" id="{68A9773B-81C8-40C4-88F5-CD60646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当前内置模型 profile：DeepSeek-V4-Flash；其他模型需补充对应 KV/激活 profile</a:t>
            </a:r>
          </a:p>
        </p:txBody>
      </p:sp>
      <p:sp>
        <p:nvSpPr>
          <p:cNvPr id="10" name="page-4">
            <a:extLst xmlns:a="http://schemas.openxmlformats.org/drawingml/2006/main">
              <a:ext uri="{FF2B5EF4-FFF2-40B4-BE49-F238E27FC236}">
                <a16:creationId xmlns:a16="http://schemas.microsoft.com/office/drawing/2014/main" id="{0BD4F0B1-99FB-427B-8EA6-77C440F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9446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KV 必须按 vLLM BlockPool 的异构页面、对齐和规划口径计算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9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一个 global block 不是单一 KV tensor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History KV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长上下文主项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SWA cache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局部窗口页面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压缩状态页面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对齐后的大状态页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Prefill / MTP transient pages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由 Q 与并行切分驱动的瞬时容量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v0.20 / A3 / block_size=128 / MTP1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3,380,736 B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bytes / global block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3,397,376 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planner bytes / global block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差值 16,640 B / block</a:t>
            </a: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 会随 global block 数累积；容量判断必须使用 planner 口径。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来源：DeepSeek-V4 技术报告；vLLM Ascend v0.20 BlockPool/KV 结构模型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DSV4 v0.23 的最低 KV 可由五组页面逐项复算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符号：L=序列长度，Q=批量 token，B=128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history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P_C4H = ceil[L / (4B)]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192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history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P_C128H = ceil[L / (128B)]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287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× SWA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P_SWA = 2{ceil[min(127+Q,L)/B]+1}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222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P_C4S = ceil[min(7+Q,L)/8]+1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P_C128S = ceil[min(127+Q,L)/32]+1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858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v0.23 / A3 / B=128 / minimum admission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P_total = 5,702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L=32,768 且 Q≥L 时，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P_total = P_C4H+P_C128H+P_SWA+P_C4S+P_C128S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M_minKV = 17.257 GiB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5,702 × 22 × (131,072 + 16,640) B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18,529,584,128 B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22 是最低准入 layer tuple 数；物理 pool allocation 的 tuple 口径必须单独计算。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来源：deepseek_v4_v023.py；THEORY_MODELING.md §2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一个全局 Block 的最低准入成本来自 22 组大小页面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07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B=128 时，两类 canonical page 的字节来源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77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Large page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128×512×2 B = 131,072 B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Small (128+2 B)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128×130 B = 16,640 B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main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65,536 → 131,072 B（pad）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index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16,384 → 16,640 B（pad）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457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Canonical tuple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131,072 + 16,640 = 147,712 B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BlockPool 对齐后按 tuple 计费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4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1 tuple = 147,712 B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一个 large bucket + 一个 small bucket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不是单一 KV Tensor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3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22 tuples = 3,249,664 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4572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≈ 3.099 MiB / global Block 等价单位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22 已包含跨层维度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8802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不要再乘 43/44 层：layer 维度已经折叠进 22 个 tuple。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来源：vLLM Ascend v0.23.0rc1 page bucket / padding 逻辑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22、23 与 Physical 是三种不同的 KV 容量口径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289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22 来自统一后的非 MTP tuple 深度；MTP 再单独加入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22 non-MTP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44 个 SWA specs → 2×22；其他组对齐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23 planner tuples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22 + 1 个 MTP tuple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13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Physical main pool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22 × 147,712 B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Physical MTP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+ 1 × 131,072 B；MTP 只创建 large page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457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Planner gap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23 × 147,712 − physical = 16,640 B / block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B=128 / MTP=1 的每个 global block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2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Minimum = 3,249,664 B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22 × (131,072 + 16,640)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用于 max-model-len 启动准入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2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Planner = 3,397,376 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4572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= 3,380,736 B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22×147,712 + 131,072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容量判断、池规划和真实 Tensor 必须各用自己的口径，不能共用一个常量。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来源：patch_kv_cache_utils.py；deepseek_v4_flash.py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P_total 是五类 Block 数之和，不是 token 数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符号：L=序列长度，Q=批量 token，B=128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history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P_C4H = ceil(L / 512)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154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history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P_C128H = ceil(L / 16,384)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P_C4S = ceil[min(7+Q,L)/8]+1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P_C128S = ceil[min(127+Q,L)/32]+1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457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× SWA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P_SWA = 2{ceil[min(127+Q,L)/128]+1}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461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源码等价实现先数页面，再乘 tuple 字节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4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P_total = Σ P_group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global Block 等价数量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随后乘 22 × 147,712 B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关键 Python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4572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Consolas"/>
                <a:ea typeface="Consolas"/>
                <a:cs typeface="Consolas"/>
              </a:rPr>
              <a:t>total_pages = (c4_history + c128_history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Consolas"/>
                <a:ea typeface="Consolas"/>
                <a:cs typeface="Consolas"/>
              </a:rPr>
              <a:t>               + swa_total + c4_state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Consolas"/>
                <a:ea typeface="Consolas"/>
                <a:cs typeface="Consolas"/>
              </a:rPr>
              <a:t>               + c128_state)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C4 main/index state 属于同一 block-size group，组容量取最大值，不把两者页面数相加。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来源：deepseek_v4_v023.py: minimum_kv_admission()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/ Q=47,104 可逐项复算到启动日志的 17.26 GiB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939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L=32,768，Q=47,104，B=128；Q&gt;L 时状态受 L 截断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history = 64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ceil(32,768 / 512) = 64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213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history = 2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ceil(32,768 / 16,384) = 2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× SWA = 514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 × {ceil(32,768 / 128)+1} = 514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981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727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 = 4,097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ceil(32,768 / 8)+1 = 4,097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457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1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 = 1,025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ceil(32,768 / 32)+1 = 1,025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页面合计 → 字节 → GiB → 日志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95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P_total = 5,702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64 + 2 + 514 + 4,097 + 1,025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5,702 global Block 等价单位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M_minKV = 17.257 GiB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4572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5,702 × 22 × 147,712 B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18,529,584,128 B；日志显示 17.26 GiB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Q=45,056 与 Q=47,104 的最低 KV 相同；后者失败是 available KV 被更高的非 KV profile 占用压低。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来源：实测 run_32768_8x2_47104.log；单元测试精确匹配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6">
            <a:extLst xmlns:a="http://schemas.openxmlformats.org/drawingml/2006/main">
              <a:ext uri="{FF2B5EF4-FFF2-40B4-BE49-F238E27FC236}">
                <a16:creationId xmlns:a16="http://schemas.microsoft.com/office/drawing/2014/main" id="{51D8AAEC-06D9-4A37-B529-775F69A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非 KV 内存决定真正可留给 BlockPool 的空间，不能只算 cache</a:t>
            </a:r>
          </a:p>
        </p:txBody>
      </p:sp>
      <p:sp>
        <p:nvSpPr>
          <p:cNvPr id="2" name="s6-chart-label">
            <a:extLst xmlns:a="http://schemas.openxmlformats.org/drawingml/2006/main">
              <a:ext uri="{FF2B5EF4-FFF2-40B4-BE49-F238E27FC236}">
                <a16:creationId xmlns:a16="http://schemas.microsoft.com/office/drawing/2014/main" id="{EF3EAFB9-48AD-488A-88AF-15EA5C1B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推荐点的中心规划量分解（GiB / die）</a:t>
            </a:r>
          </a:p>
        </p:txBody>
      </p:sp>
      <p:sp>
        <p:nvSpPr>
          <p:cNvPr id="3" name="s6-card1">
            <a:extLst xmlns:a="http://schemas.openxmlformats.org/drawingml/2006/main">
              <a:ext uri="{FF2B5EF4-FFF2-40B4-BE49-F238E27FC236}">
                <a16:creationId xmlns:a16="http://schemas.microsoft.com/office/drawing/2014/main" id="{FF050E80-0C69-4170-93B8-BF7DF3E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6-card2">
            <a:extLst xmlns:a="http://schemas.openxmlformats.org/drawingml/2006/main">
              <a:ext uri="{FF2B5EF4-FFF2-40B4-BE49-F238E27FC236}">
                <a16:creationId xmlns:a16="http://schemas.microsoft.com/office/drawing/2014/main" id="{9A6A83F7-AA66-47C3-AF3D-10B85D8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6-card3">
            <a:extLst xmlns:a="http://schemas.openxmlformats.org/drawingml/2006/main">
              <a:ext uri="{FF2B5EF4-FFF2-40B4-BE49-F238E27FC236}">
                <a16:creationId xmlns:a16="http://schemas.microsoft.com/office/drawing/2014/main" id="{A60E1DC7-3A7C-4A3F-B243-F048323F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6-card1-t">
            <a:extLst xmlns:a="http://schemas.openxmlformats.org/drawingml/2006/main">
              <a:ext uri="{FF2B5EF4-FFF2-40B4-BE49-F238E27FC236}">
                <a16:creationId xmlns:a16="http://schemas.microsoft.com/office/drawing/2014/main" id="{6987CB5F-E9A4-40EE-B8E1-F6479A5C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权重 18.28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可由启动 profile、手工值或 safetensors header 解析；DP 不切分权重。</a:t>
            </a:r>
          </a:p>
        </p:txBody>
      </p:sp>
      <p:sp>
        <p:nvSpPr>
          <p:cNvPr id="7" name="s6-card2-t">
            <a:extLst xmlns:a="http://schemas.openxmlformats.org/drawingml/2006/main">
              <a:ext uri="{FF2B5EF4-FFF2-40B4-BE49-F238E27FC236}">
                <a16:creationId xmlns:a16="http://schemas.microsoft.com/office/drawing/2014/main" id="{746302A7-0357-491C-A922-E3662F8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激活 2.62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按 mHC、attention、MoE 分支和生命周期重叠建模，可由 profile 校准。</a:t>
            </a:r>
          </a:p>
        </p:txBody>
      </p:sp>
      <p:sp>
        <p:nvSpPr>
          <p:cNvPr id="8" name="s6-card3-t">
            <a:extLst xmlns:a="http://schemas.openxmlformats.org/drawingml/2006/main">
              <a:ext uri="{FF2B5EF4-FFF2-40B4-BE49-F238E27FC236}">
                <a16:creationId xmlns:a16="http://schemas.microsoft.com/office/drawing/2014/main" id="{67179ED3-2D08-402C-8A54-487B5DE5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未知 Workspace 先占 2.00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占位不是芯片常数；上线前需用 CANN kernel query 或峰值差分替换。</a:t>
            </a:r>
          </a:p>
        </p:txBody>
      </p:sp>
      <p:sp>
        <p:nvSpPr>
          <p:cNvPr id="9" name="s6-values">
            <a:extLst xmlns:a="http://schemas.openxmlformats.org/drawingml/2006/main">
              <a:ext uri="{FF2B5EF4-FFF2-40B4-BE49-F238E27FC236}">
                <a16:creationId xmlns:a16="http://schemas.microsoft.com/office/drawing/2014/main" id="{E5D85BB8-844A-4348-B57F-1EEBC42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1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 18.28 ｜ KV 22.71 ｜ 激活 2.62 ｜ Runtime 0.25 ｜ Workspace 2.00 ｜ 碎片+安全 1.81</a:t>
            </a:r>
          </a:p>
        </p:txBody>
      </p:sp>
      <p:sp>
        <p:nvSpPr>
          <p:cNvPr id="10" name="s6-total">
            <a:extLst xmlns:a="http://schemas.openxmlformats.org/drawingml/2006/main">
              <a:ext uri="{FF2B5EF4-FFF2-40B4-BE49-F238E27FC236}">
                <a16:creationId xmlns:a16="http://schemas.microsoft.com/office/drawing/2014/main" id="{D42B4FA6-4454-431C-B07C-F86984A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14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Planning 47.67 GiB ｜ Upper 50.40 GiB ｜ 预算 57.60 GiB</a:t>
            </a:r>
          </a:p>
        </p:txBody>
      </p:sp>
      <p:sp>
        <p:nvSpPr>
          <p:cNvPr id="11" name="source-6">
            <a:extLst xmlns:a="http://schemas.openxmlformats.org/drawingml/2006/main">
              <a:ext uri="{FF2B5EF4-FFF2-40B4-BE49-F238E27FC236}">
                <a16:creationId xmlns:a16="http://schemas.microsoft.com/office/drawing/2014/main" id="{F5EBA152-FCDD-475A-A19E-EC7C796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示例配置：64 GiB/die，utilization=0.9，DP4/TP4/EP16，Q=16,384，S=2，1M 场景</a:t>
            </a:r>
          </a:p>
        </p:txBody>
      </p:sp>
      <p:sp>
        <p:nvSpPr>
          <p:cNvPr id="12" name="page-6">
            <a:extLst xmlns:a="http://schemas.openxmlformats.org/drawingml/2006/main">
              <a:ext uri="{FF2B5EF4-FFF2-40B4-BE49-F238E27FC236}">
                <a16:creationId xmlns:a16="http://schemas.microsoft.com/office/drawing/2014/main" id="{54616507-8DCF-424F-AB90-7DDCE86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3627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c16fe2dac54147"/>
          </a:graphicData>
        </a:graphic>
      </p:graphicFrame>
    </p:spTree>
    <p:extLst>
      <p:ext uri="{BB962C8B-B14F-4D97-AF65-F5344CB8AC3E}">
        <p14:creationId xmlns:p14="http://schemas.microsoft.com/office/powerpoint/2010/main" val="21167524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非 KV 内存用逐张量、峰值活跃集与通信域分别计算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权重与模型常驻缓冲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单张量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M_i = numel_i × bytes(dtype_i) / shard_i(TP,EP,PP)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668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W8A8 linear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 = in×out + out×(2+2+4)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Rank 模型加载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M_load = ΣM_i + M_postload + M_buffers(Q)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MTP hidden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M_MTP = Q × hc_mult × hidden × 2 B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RoPE / Top-k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按 max_position、Q 与共享关系分别计入常驻 buffer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激活、HCCL 与 Graph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M_activation peak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M_persistent + α × max(M_attention, M_MoE)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α = branch_live_fraction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M_HCCL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2 × HCCL_BUFFSIZE × N_domain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M_graph = N_cap×M_fixed + Σ(size×M_token)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TP/EP/PP 决定 shard_i；CANN/ACL/workspace 的未知残差按版本化实测项校准。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来源：deepseek_v4_w8a8.py；persistent_buffers.py；components.py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7">
            <a:extLst xmlns:a="http://schemas.openxmlformats.org/drawingml/2006/main">
              <a:ext uri="{FF2B5EF4-FFF2-40B4-BE49-F238E27FC236}">
                <a16:creationId xmlns:a16="http://schemas.microsoft.com/office/drawing/2014/main" id="{0F73B38D-7B13-419D-9FC2-936CFAD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推荐算法不是寻找“最大值”，而是在安全边界内平衡 Q 与 S</a:t>
            </a:r>
          </a:p>
        </p:txBody>
      </p:sp>
      <p:cxnSp>
        <p:nvCxnSpPr>
          <p:cNvPr id="34" name="s7-a1"/>
          <p:cNvCxnSpPr/>
          <p:nvPr/>
        </p:nvCxnSpPr>
        <p:spPr>
          <a:xfrm xmlns:a="http://schemas.openxmlformats.org/drawingml/2006/main">
            <a:off x="26670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5" name="s7-a2"/>
          <p:cNvCxnSpPr/>
          <p:nvPr/>
        </p:nvCxnSpPr>
        <p:spPr>
          <a:xfrm xmlns:a="http://schemas.openxmlformats.org/drawingml/2006/main">
            <a:off x="56007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6" name="s7-a3"/>
          <p:cNvCxnSpPr/>
          <p:nvPr/>
        </p:nvCxnSpPr>
        <p:spPr>
          <a:xfrm xmlns:a="http://schemas.openxmlformats.org/drawingml/2006/main">
            <a:off x="85344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s7-b1">
            <a:extLst xmlns:a="http://schemas.openxmlformats.org/drawingml/2006/main">
              <a:ext uri="{FF2B5EF4-FFF2-40B4-BE49-F238E27FC236}">
                <a16:creationId xmlns:a16="http://schemas.microsoft.com/office/drawing/2014/main" id="{B9E0295A-D7F0-4D3F-8102-8373320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7-b2">
            <a:extLst xmlns:a="http://schemas.openxmlformats.org/drawingml/2006/main">
              <a:ext uri="{FF2B5EF4-FFF2-40B4-BE49-F238E27FC236}">
                <a16:creationId xmlns:a16="http://schemas.microsoft.com/office/drawing/2014/main" id="{54018F2D-ACA9-470A-93C8-BADC703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7-b3">
            <a:extLst xmlns:a="http://schemas.openxmlformats.org/drawingml/2006/main">
              <a:ext uri="{FF2B5EF4-FFF2-40B4-BE49-F238E27FC236}">
                <a16:creationId xmlns:a16="http://schemas.microsoft.com/office/drawing/2014/main" id="{C0EC8943-F82D-43CB-9EA0-85BF8E5A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7-b4">
            <a:extLst xmlns:a="http://schemas.openxmlformats.org/drawingml/2006/main">
              <a:ext uri="{FF2B5EF4-FFF2-40B4-BE49-F238E27FC236}">
                <a16:creationId xmlns:a16="http://schemas.microsoft.com/office/drawing/2014/main" id="{F92C41F5-4B37-4EA7-B9DC-B768BA8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857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7-t1">
            <a:extLst xmlns:a="http://schemas.openxmlformats.org/drawingml/2006/main">
              <a:ext uri="{FF2B5EF4-FFF2-40B4-BE49-F238E27FC236}">
                <a16:creationId xmlns:a16="http://schemas.microsoft.com/office/drawing/2014/main" id="{A5961176-8C01-4DE1-BE36-BC4F3F9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809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枚举候选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遍历 Q × S × context_len；拒绝 Q &lt; S 的无效组合。</a:t>
            </a:r>
          </a:p>
        </p:txBody>
      </p:sp>
      <p:sp>
        <p:nvSpPr>
          <p:cNvPr id="10" name="s7-t2">
            <a:extLst xmlns:a="http://schemas.openxmlformats.org/drawingml/2006/main">
              <a:ext uri="{FF2B5EF4-FFF2-40B4-BE49-F238E27FC236}">
                <a16:creationId xmlns:a16="http://schemas.microsoft.com/office/drawing/2014/main" id="{2B0301FE-6BEA-4670-AAFE-C6A3F394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计算峰值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复用六类组件模型，计算 physical、planning 与 upper 三种口径。</a:t>
            </a:r>
          </a:p>
        </p:txBody>
      </p:sp>
      <p:sp>
        <p:nvSpPr>
          <p:cNvPr id="11" name="s7-t3">
            <a:extLst xmlns:a="http://schemas.openxmlformats.org/drawingml/2006/main">
              <a:ext uri="{FF2B5EF4-FFF2-40B4-BE49-F238E27FC236}">
                <a16:creationId xmlns:a16="http://schemas.microsoft.com/office/drawing/2014/main" id="{67806E61-D3C5-486E-B5F6-6A1730A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安全筛选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Planning upper + minimum headroom ≤ HBM × utilization</a:t>
            </a:r>
          </a:p>
        </p:txBody>
      </p:sp>
      <p:sp>
        <p:nvSpPr>
          <p:cNvPr id="12" name="s7-t4">
            <a:extLst xmlns:a="http://schemas.openxmlformats.org/drawingml/2006/main">
              <a:ext uri="{FF2B5EF4-FFF2-40B4-BE49-F238E27FC236}">
                <a16:creationId xmlns:a16="http://schemas.microsoft.com/office/drawing/2014/main" id="{E1A8448E-9B8D-4B40-B8CD-7F175B2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2324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4  目标评分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 Q、S 做对数归一化；支持 balanced、prefill 和 concurrency。</a:t>
            </a:r>
          </a:p>
        </p:txBody>
      </p:sp>
      <p:sp>
        <p:nvSpPr>
          <p:cNvPr id="13" name="s7-formula">
            <a:extLst xmlns:a="http://schemas.openxmlformats.org/drawingml/2006/main">
              <a:ext uri="{FF2B5EF4-FFF2-40B4-BE49-F238E27FC236}">
                <a16:creationId xmlns:a16="http://schemas.microsoft.com/office/drawing/2014/main" id="{252E87D8-F08E-44F6-AFD7-5D730BA1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4" name="s7-formula-t">
            <a:extLst xmlns:a="http://schemas.openxmlformats.org/drawingml/2006/main">
              <a:ext uri="{FF2B5EF4-FFF2-40B4-BE49-F238E27FC236}">
                <a16:creationId xmlns:a16="http://schemas.microsoft.com/office/drawing/2014/main" id="{27586A88-4A4B-410C-8120-20AD455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score = 100 × [ wQ · norm(Q) + wS · norm(S) ]</a:t>
            </a:r>
          </a:p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默认 balanced：wQ = wS = 0.5。分数表达配置偏好，不替代真实 TTFT / TPOT / 吞吐压测。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4A2B87C6-3DC3-47FC-B7F0-E2BF1F80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输出同时给出全场景统一推荐、各场景独立推荐、Top-K 备选和双向 frontier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8907E5B2-CD48-479D-B0FD-8481F7C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50903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推荐值是在启动准入与运行上界共同约束下搜索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对每个候选 (Q,S) 逐场景判定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3563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启动约束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M_minKV(L,Q) ≤ M_availKV(Q,S)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运行约束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M_upper(Q,S,L) + H_min ≤ M_requested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09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可行集合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F = {(Q,S) | startup ∧ runtime}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287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固定 S 取 max Q；固定 Q 取 max S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  <a:buNone/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跨场景统一</a:t>
            </a:r>
          </a:p>
          <a:p xmlns:a="http://schemas.openxmlformats.org/drawingml/2006/main">
            <a:pPr algn="l">
              <a:buNone/>
            </a:pPr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F_all = ⋂ F(context_len_i)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在可行域内才优化吞吐目标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score(Q,S)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100 × (w_Q·q_norm + w_S·s_norm)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q_norm、s_norm 为候选区间的对数归一化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(Q*,S*) = argmax score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约束：(Q,S) ∈ F_all</a:t>
            </a: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同分时按 fit_headroom、Q、S 稳定排序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同时输出 startup_limit_recommended 与 runtime_safe_recommended，避免单一“神奇常数”。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来源：recommender.py；startup.py；THEORY_MODELING.md §1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24BDF036-8D39-42D5-B763-2E3A482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同一块 64 GiB HBM，对 1M 与 32K 请求给出截然不同的并发上限</a:t>
            </a:r>
          </a:p>
        </p:txBody>
      </p:sp>
      <p:sp>
        <p:nvSpPr>
          <p:cNvPr id="2" name="s8-intro">
            <a:extLst xmlns:a="http://schemas.openxmlformats.org/drawingml/2006/main">
              <a:ext uri="{FF2B5EF4-FFF2-40B4-BE49-F238E27FC236}">
                <a16:creationId xmlns:a16="http://schemas.microsoft.com/office/drawing/2014/main" id="{02DD8F5D-4989-4B70-A566-BB0137E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04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 在两个场景均为 16,384；真正拉开配置的是每个 DP engine 可同时保留的历史序列数。</a:t>
            </a:r>
          </a:p>
        </p:txBody>
      </p:sp>
      <p:sp>
        <p:nvSpPr>
          <p:cNvPr id="3" name="s8-left">
            <a:extLst xmlns:a="http://schemas.openxmlformats.org/drawingml/2006/main">
              <a:ext uri="{FF2B5EF4-FFF2-40B4-BE49-F238E27FC236}">
                <a16:creationId xmlns:a16="http://schemas.microsoft.com/office/drawing/2014/main" id="{18C01E1C-1317-490A-B335-D483210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8-right">
            <a:extLst xmlns:a="http://schemas.openxmlformats.org/drawingml/2006/main">
              <a:ext uri="{FF2B5EF4-FFF2-40B4-BE49-F238E27FC236}">
                <a16:creationId xmlns:a16="http://schemas.microsoft.com/office/drawing/2014/main" id="{93E1FF0B-C873-41BE-BD9C-312B3417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1F394A39-641F-4109-BC13-C39ED78C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最坏长度</a:t>
            </a:r>
          </a:p>
        </p:txBody>
      </p:sp>
      <p:sp>
        <p:nvSpPr>
          <p:cNvPr id="6" name="s8-left-stat">
            <a:extLst xmlns:a="http://schemas.openxmlformats.org/drawingml/2006/main">
              <a:ext uri="{FF2B5EF4-FFF2-40B4-BE49-F238E27FC236}">
                <a16:creationId xmlns:a16="http://schemas.microsoft.com/office/drawing/2014/main" id="{F61EF79B-71D0-4CF5-9AAB-34C06EA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2</a:t>
            </a:r>
          </a:p>
        </p:txBody>
      </p:sp>
      <p:sp>
        <p:nvSpPr>
          <p:cNvPr id="7" name="s8-left-detail">
            <a:extLst xmlns:a="http://schemas.openxmlformats.org/drawingml/2006/main">
              <a:ext uri="{FF2B5EF4-FFF2-40B4-BE49-F238E27FC236}">
                <a16:creationId xmlns:a16="http://schemas.microsoft.com/office/drawing/2014/main" id="{6AEB40CE-D8FE-4299-841F-312A49F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50.40 GiB
Fit-basis headroom 7.20 GiB</a:t>
            </a:r>
          </a:p>
        </p:txBody>
      </p:sp>
      <p:sp>
        <p:nvSpPr>
          <p:cNvPr id="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90F27A2C-77FF-4294-A1F0-6D1C514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典型长度</a:t>
            </a:r>
          </a:p>
        </p:txBody>
      </p:sp>
      <p:sp>
        <p:nvSpPr>
          <p:cNvPr id="9" name="s8-right-stat">
            <a:extLst xmlns:a="http://schemas.openxmlformats.org/drawingml/2006/main">
              <a:ext uri="{FF2B5EF4-FFF2-40B4-BE49-F238E27FC236}">
                <a16:creationId xmlns:a16="http://schemas.microsoft.com/office/drawing/2014/main" id="{68EEA87D-4CC3-4D2B-83A7-16FD607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32</a:t>
            </a:r>
          </a:p>
        </p:txBody>
      </p:sp>
      <p:sp>
        <p:nvSpPr>
          <p:cNvPr id="10" name="s8-right-detail">
            <a:extLst xmlns:a="http://schemas.openxmlformats.org/drawingml/2006/main">
              <a:ext uri="{FF2B5EF4-FFF2-40B4-BE49-F238E27FC236}">
                <a16:creationId xmlns:a16="http://schemas.microsoft.com/office/drawing/2014/main" id="{515A6B8F-D2B4-42D4-976C-01753A5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50.19 GiB
Fit-basis headroom 7.41 GiB</a:t>
            </a:r>
          </a:p>
        </p:txBody>
      </p:sp>
      <p:sp>
        <p:nvSpPr>
          <p:cNvPr id="11" name="s8-bottom">
            <a:extLst xmlns:a="http://schemas.openxmlformats.org/drawingml/2006/main">
              <a:ext uri="{FF2B5EF4-FFF2-40B4-BE49-F238E27FC236}">
                <a16:creationId xmlns:a16="http://schemas.microsoft.com/office/drawing/2014/main" id="{FA504E89-51BB-4110-8DED-34B7215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s8-bottom-t">
            <a:extLst xmlns:a="http://schemas.openxmlformats.org/drawingml/2006/main">
              <a:ext uri="{FF2B5EF4-FFF2-40B4-BE49-F238E27FC236}">
                <a16:creationId xmlns:a16="http://schemas.microsoft.com/office/drawing/2014/main" id="{F08812D7-DDB0-4C0F-ADE0-D22FE08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一套服务同时覆盖两种长度时：统一推荐由 1M 场景限制为 Q=16,384、S=2；拆分服务池才能释放 32K 的并发能力。</a:t>
            </a:r>
          </a:p>
        </p:txBody>
      </p:sp>
      <p:sp>
        <p:nvSpPr>
          <p:cNvPr id="13" name="source-8">
            <a:extLst xmlns:a="http://schemas.openxmlformats.org/drawingml/2006/main">
              <a:ext uri="{FF2B5EF4-FFF2-40B4-BE49-F238E27FC236}">
                <a16:creationId xmlns:a16="http://schemas.microsoft.com/office/drawing/2014/main" id="{CE135DAA-60D6-4B68-A38C-6222ABF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场景假设：一个 DP engine 上全部 S 条序列同时达到该 context_len；这是保守的无抢占容量语义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EA11EC99-AA8C-4B02-8971-05C4CF4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87222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9">
            <a:extLst xmlns:a="http://schemas.openxmlformats.org/drawingml/2006/main">
              <a:ext uri="{FF2B5EF4-FFF2-40B4-BE49-F238E27FC236}">
                <a16:creationId xmlns:a16="http://schemas.microsoft.com/office/drawing/2014/main" id="{33A71095-0512-45FB-AB76-BA9503ED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模型把不可部署的 Q=81,920 收敛到可验证的安全区间</a:t>
            </a:r>
          </a:p>
        </p:txBody>
      </p:sp>
      <p:sp>
        <p:nvSpPr>
          <p:cNvPr id="2" name="s9-chart-label">
            <a:extLst xmlns:a="http://schemas.openxmlformats.org/drawingml/2006/main">
              <a:ext uri="{FF2B5EF4-FFF2-40B4-BE49-F238E27FC236}">
                <a16:creationId xmlns:a16="http://schemas.microsoft.com/office/drawing/2014/main" id="{2B694920-EAF7-43F4-AFC2-9C55338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场景规划上界对比（GiB / die）</a:t>
            </a:r>
          </a:p>
        </p:txBody>
      </p:sp>
      <p:sp>
        <p:nvSpPr>
          <p:cNvPr id="3" name="s9-callout">
            <a:extLst xmlns:a="http://schemas.openxmlformats.org/drawingml/2006/main">
              <a:ext uri="{FF2B5EF4-FFF2-40B4-BE49-F238E27FC236}">
                <a16:creationId xmlns:a16="http://schemas.microsoft.com/office/drawing/2014/main" id="{8C1DCA0D-B420-42C9-9840-32530D7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384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9-callout-t">
            <a:extLst xmlns:a="http://schemas.openxmlformats.org/drawingml/2006/main">
              <a:ext uri="{FF2B5EF4-FFF2-40B4-BE49-F238E27FC236}">
                <a16:creationId xmlns:a16="http://schemas.microsoft.com/office/drawing/2014/main" id="{B2E9548F-C30E-455F-A1CB-BB7A848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2766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关键结论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Q=81,920 时，即使仅 1 条 1M 长序列，上界也达到 92.55 GiB。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推荐点 Q=16,384、S=2 的上界为 50.40 GiB，在支持 2 条长序列的同时回到预算内。</a:t>
            </a:r>
          </a:p>
        </p:txBody>
      </p:sp>
      <p:sp>
        <p:nvSpPr>
          <p:cNvPr id="5" name="s9-meaning">
            <a:extLst xmlns:a="http://schemas.openxmlformats.org/drawingml/2006/main">
              <a:ext uri="{FF2B5EF4-FFF2-40B4-BE49-F238E27FC236}">
                <a16:creationId xmlns:a16="http://schemas.microsoft.com/office/drawing/2014/main" id="{6A5FD850-1F69-4C1B-B8CC-B1CB2D2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84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9-meaning-t">
            <a:extLst xmlns:a="http://schemas.openxmlformats.org/drawingml/2006/main">
              <a:ext uri="{FF2B5EF4-FFF2-40B4-BE49-F238E27FC236}">
                <a16:creationId xmlns:a16="http://schemas.microsoft.com/office/drawing/2014/main" id="{EB4461DE-DAAF-4CFB-8174-734BB78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35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意义：调小 Q 不是“浪费容量”，而是用瞬时 prefill 空间换取可部署性与历史并发。</a:t>
            </a:r>
          </a:p>
        </p:txBody>
      </p:sp>
      <p:sp>
        <p:nvSpPr>
          <p:cNvPr id="7" name="source-9">
            <a:extLst xmlns:a="http://schemas.openxmlformats.org/drawingml/2006/main">
              <a:ext uri="{FF2B5EF4-FFF2-40B4-BE49-F238E27FC236}">
                <a16:creationId xmlns:a16="http://schemas.microsoft.com/office/drawing/2014/main" id="{C05EF7EA-7845-4C73-BFEA-369D19C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比较口径：Q=81,920/S=1 与推荐 Q=16,384/S=2；预算 = 64 × 0.9 = 57.60 GiB</a:t>
            </a:r>
          </a:p>
        </p:txBody>
      </p:sp>
      <p:sp>
        <p:nvSpPr>
          <p:cNvPr id="8" name="page-9">
            <a:extLst xmlns:a="http://schemas.openxmlformats.org/drawingml/2006/main">
              <a:ext uri="{FF2B5EF4-FFF2-40B4-BE49-F238E27FC236}">
                <a16:creationId xmlns:a16="http://schemas.microsoft.com/office/drawing/2014/main" id="{2E3E2A3B-4A19-468B-9BD7-C36B341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3f91aeecb34025"/>
          </a:graphicData>
        </a:graphic>
      </p:graphicFrame>
    </p:spTree>
    <p:extLst>
      <p:ext uri="{BB962C8B-B14F-4D97-AF65-F5344CB8AC3E}">
        <p14:creationId xmlns:p14="http://schemas.microsoft.com/office/powerpoint/2010/main" val="18920720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AB5DE37D-DA91-444B-B904-036B65A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揭示 Q 与并发可交换，而不是给出一个“神奇常数”</a:t>
            </a:r>
          </a:p>
        </p:txBody>
      </p:sp>
      <p:sp>
        <p:nvSpPr>
          <p:cNvPr id="2" name="s10-chart-label">
            <a:extLst xmlns:a="http://schemas.openxmlformats.org/drawingml/2006/main">
              <a:ext uri="{FF2B5EF4-FFF2-40B4-BE49-F238E27FC236}">
                <a16:creationId xmlns:a16="http://schemas.microsoft.com/office/drawing/2014/main" id="{0D77EC82-DEB1-4A4D-8373-AE771B6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676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固定 max_num_seqs 时的最大可行 Q</a:t>
            </a:r>
          </a:p>
        </p:txBody>
      </p:sp>
      <p:sp>
        <p:nvSpPr>
          <p:cNvPr id="3" name="s10-card1">
            <a:extLst xmlns:a="http://schemas.openxmlformats.org/drawingml/2006/main">
              <a:ext uri="{FF2B5EF4-FFF2-40B4-BE49-F238E27FC236}">
                <a16:creationId xmlns:a16="http://schemas.microsoft.com/office/drawing/2014/main" id="{38530DBE-4F28-4DFC-88D9-A970BC2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10-card2">
            <a:extLst xmlns:a="http://schemas.openxmlformats.org/drawingml/2006/main">
              <a:ext uri="{FF2B5EF4-FFF2-40B4-BE49-F238E27FC236}">
                <a16:creationId xmlns:a16="http://schemas.microsoft.com/office/drawing/2014/main" id="{5168B1EA-3C5E-4141-B97C-9743806B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10-card3">
            <a:extLst xmlns:a="http://schemas.openxmlformats.org/drawingml/2006/main">
              <a:ext uri="{FF2B5EF4-FFF2-40B4-BE49-F238E27FC236}">
                <a16:creationId xmlns:a16="http://schemas.microsoft.com/office/drawing/2014/main" id="{BC2D3904-CE69-4751-9642-D192186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10-card1-t">
            <a:extLst xmlns:a="http://schemas.openxmlformats.org/drawingml/2006/main">
              <a:ext uri="{FF2B5EF4-FFF2-40B4-BE49-F238E27FC236}">
                <a16:creationId xmlns:a16="http://schemas.microsoft.com/office/drawing/2014/main" id="{F576CB2F-E0C7-46CF-B552-8AABFCF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长上下文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S=4 时最大 Q 仅 4,096；S≥8 时候选集中已无可行点。</a:t>
            </a:r>
          </a:p>
        </p:txBody>
      </p:sp>
      <p:sp>
        <p:nvSpPr>
          <p:cNvPr id="7" name="s10-card2-t">
            <a:extLst xmlns:a="http://schemas.openxmlformats.org/drawingml/2006/main">
              <a:ext uri="{FF2B5EF4-FFF2-40B4-BE49-F238E27FC236}">
                <a16:creationId xmlns:a16="http://schemas.microsoft.com/office/drawing/2014/main" id="{99B3E0FE-A17E-4653-8B5B-A0BAD04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S=32 时 Q=16,384；S=64 时需将 Q 降至 4,096。</a:t>
            </a:r>
          </a:p>
        </p:txBody>
      </p:sp>
      <p:sp>
        <p:nvSpPr>
          <p:cNvPr id="8" name="s10-card3-t">
            <a:extLst xmlns:a="http://schemas.openxmlformats.org/drawingml/2006/main">
              <a:ext uri="{FF2B5EF4-FFF2-40B4-BE49-F238E27FC236}">
                <a16:creationId xmlns:a16="http://schemas.microsoft.com/office/drawing/2014/main" id="{E69220A5-F103-465E-858E-A534F45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让产品规格可以按 TTFT、吞吐和并发 SLA 选择，而不是只输出单点答案。</a:t>
            </a:r>
          </a:p>
        </p:txBody>
      </p:sp>
      <p:sp>
        <p:nvSpPr>
          <p:cNvPr id="9" name="source-10">
            <a:extLst xmlns:a="http://schemas.openxmlformats.org/drawingml/2006/main">
              <a:ext uri="{FF2B5EF4-FFF2-40B4-BE49-F238E27FC236}">
                <a16:creationId xmlns:a16="http://schemas.microsoft.com/office/drawing/2014/main" id="{6126493B-266C-41F7-B5C2-EC92ACB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注：图中 0 表示当前候选集合无可行配置；筛选口径为 planning_upper + 2 GiB minimum headroom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F221E4C8-B8E7-4E56-9FEC-76C68A0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953250" cy="4495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080dda6129413e"/>
          </a:graphicData>
        </a:graphic>
      </p:graphicFrame>
    </p:spTree>
    <p:extLst>
      <p:ext uri="{BB962C8B-B14F-4D97-AF65-F5344CB8AC3E}">
        <p14:creationId xmlns:p14="http://schemas.microsoft.com/office/powerpoint/2010/main" val="2690751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1">
            <a:extLst xmlns:a="http://schemas.openxmlformats.org/drawingml/2006/main">
              <a:ext uri="{FF2B5EF4-FFF2-40B4-BE49-F238E27FC236}">
                <a16:creationId xmlns:a16="http://schemas.microsoft.com/office/drawing/2014/main" id="{F0DF909F-5533-48FB-8BA4-21AA0FD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技术价值：把配置风险、规格决策和版本演进纳入可审计模型</a:t>
            </a:r>
          </a:p>
        </p:txBody>
      </p:sp>
      <p:sp>
        <p:nvSpPr>
          <p:cNvPr id="2" name="s11-v">
            <a:extLst xmlns:a="http://schemas.openxmlformats.org/drawingml/2006/main">
              <a:ext uri="{FF2B5EF4-FFF2-40B4-BE49-F238E27FC236}">
                <a16:creationId xmlns:a16="http://schemas.microsoft.com/office/drawing/2014/main" id="{6FED6C64-969A-43A9-92E8-6627BB5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11-h">
            <a:extLst xmlns:a="http://schemas.openxmlformats.org/drawingml/2006/main">
              <a:ext uri="{FF2B5EF4-FFF2-40B4-BE49-F238E27FC236}">
                <a16:creationId xmlns:a16="http://schemas.microsoft.com/office/drawing/2014/main" id="{0AC2D039-AAAD-49FE-AFAC-DCFDE87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11-1">
            <a:extLst xmlns:a="http://schemas.openxmlformats.org/drawingml/2006/main">
              <a:ext uri="{FF2B5EF4-FFF2-40B4-BE49-F238E27FC236}">
                <a16:creationId xmlns:a16="http://schemas.microsoft.com/office/drawing/2014/main" id="{C6886E10-74E5-46EA-B529-4D9D515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风险可解释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不再用“剩余 HBM”猜 OOM；每个组件都有来源、上界、余量和 unresolved 标记。</a:t>
            </a:r>
          </a:p>
        </p:txBody>
      </p:sp>
      <p:sp>
        <p:nvSpPr>
          <p:cNvPr id="5" name="s11-2">
            <a:extLst xmlns:a="http://schemas.openxmlformats.org/drawingml/2006/main">
              <a:ext uri="{FF2B5EF4-FFF2-40B4-BE49-F238E27FC236}">
                <a16:creationId xmlns:a16="http://schemas.microsoft.com/office/drawing/2014/main" id="{E7B4768A-DA24-4FD5-B4C6-6300A1E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调参更聚焦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先排除明显不可行点，再在 frontier 附近压测，减少盲目遍历配置空间。</a:t>
            </a:r>
          </a:p>
        </p:txBody>
      </p:sp>
      <p:sp>
        <p:nvSpPr>
          <p:cNvPr id="6" name="s11-3">
            <a:extLst xmlns:a="http://schemas.openxmlformats.org/drawingml/2006/main">
              <a:ext uri="{FF2B5EF4-FFF2-40B4-BE49-F238E27FC236}">
                <a16:creationId xmlns:a16="http://schemas.microsoft.com/office/drawing/2014/main" id="{3CF51463-7C60-450D-9501-B85ADE2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规格可复现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相同 JSON 输入得到相同推荐，便于跨机器、模型版本和并行方案对齐容量口径。</a:t>
            </a:r>
          </a:p>
        </p:txBody>
      </p:sp>
      <p:sp>
        <p:nvSpPr>
          <p:cNvPr id="7" name="s11-4">
            <a:extLst xmlns:a="http://schemas.openxmlformats.org/drawingml/2006/main">
              <a:ext uri="{FF2B5EF4-FFF2-40B4-BE49-F238E27FC236}">
                <a16:creationId xmlns:a16="http://schemas.microsoft.com/office/drawing/2014/main" id="{90159223-0435-4D44-9FD0-8B8319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模型可演进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权重、activation、non-Torch、Graph、Workspace 均可用实测值覆盖；KV 布局按版本切换。</a:t>
            </a:r>
          </a:p>
        </p:txBody>
      </p:sp>
      <p:sp>
        <p:nvSpPr>
          <p:cNvPr id="8" name="s11-bottom">
            <a:extLst xmlns:a="http://schemas.openxmlformats.org/drawingml/2006/main">
              <a:ext uri="{FF2B5EF4-FFF2-40B4-BE49-F238E27FC236}">
                <a16:creationId xmlns:a16="http://schemas.microsoft.com/office/drawing/2014/main" id="{303C274F-BB8E-46BD-8E77-5D5E944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76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5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核心意义：把“单次调参经验”沉淀为可解释、可校准、可比较的容量工程能力。</a:t>
            </a:r>
          </a:p>
        </p:txBody>
      </p:sp>
      <p:sp>
        <p:nvSpPr>
          <p:cNvPr id="9" name="source-11">
            <a:extLst xmlns:a="http://schemas.openxmlformats.org/drawingml/2006/main">
              <a:ext uri="{FF2B5EF4-FFF2-40B4-BE49-F238E27FC236}">
                <a16:creationId xmlns:a16="http://schemas.microsoft.com/office/drawing/2014/main" id="{B1666120-BBF4-4B4B-9168-03B9EBA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模型输出用于部署决策与压测选点；它不直接预测网络通信、TTFT、TPOT 或端到端吞吐</a:t>
            </a: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CDC85D73-DDB0-4409-8A60-D029DA4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52208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2">
            <a:extLst xmlns:a="http://schemas.openxmlformats.org/drawingml/2006/main">
              <a:ext uri="{FF2B5EF4-FFF2-40B4-BE49-F238E27FC236}">
                <a16:creationId xmlns:a16="http://schemas.microsoft.com/office/drawing/2014/main" id="{A5B459A3-DE33-4C85-81AD-ABD2753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用实测校准完成闭环，再把推荐值固化为规格基线</a:t>
            </a:r>
          </a:p>
        </p:txBody>
      </p:sp>
      <p:cxnSp>
        <p:nvCxnSpPr>
          <p:cNvPr id="28" name="s12-line"/>
          <p:cNvCxnSpPr/>
          <p:nvPr/>
        </p:nvCxnSpPr>
        <p:spPr>
          <a:xfrm xmlns:a="http://schemas.openxmlformats.org/drawingml/2006/main">
            <a:off x="1524000" y="3714750"/>
            <a:ext cx="9144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s12-dot1">
            <a:extLst xmlns:a="http://schemas.openxmlformats.org/drawingml/2006/main">
              <a:ext uri="{FF2B5EF4-FFF2-40B4-BE49-F238E27FC236}">
                <a16:creationId xmlns:a16="http://schemas.microsoft.com/office/drawing/2014/main" id="{1A07E9F0-A931-438D-BCA8-2850133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12-dot2">
            <a:extLst xmlns:a="http://schemas.openxmlformats.org/drawingml/2006/main">
              <a:ext uri="{FF2B5EF4-FFF2-40B4-BE49-F238E27FC236}">
                <a16:creationId xmlns:a16="http://schemas.microsoft.com/office/drawing/2014/main" id="{64985ACF-1565-42C0-AE44-7F38969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s12-dot3">
            <a:extLst xmlns:a="http://schemas.openxmlformats.org/drawingml/2006/main">
              <a:ext uri="{FF2B5EF4-FFF2-40B4-BE49-F238E27FC236}">
                <a16:creationId xmlns:a16="http://schemas.microsoft.com/office/drawing/2014/main" id="{13044D38-7F60-4B10-9E65-5B840FA7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s12-c1">
            <a:extLst xmlns:a="http://schemas.openxmlformats.org/drawingml/2006/main">
              <a:ext uri="{FF2B5EF4-FFF2-40B4-BE49-F238E27FC236}">
                <a16:creationId xmlns:a16="http://schemas.microsoft.com/office/drawing/2014/main" id="{3637165C-18CC-4E92-BDD5-4D7B018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12-c2">
            <a:extLst xmlns:a="http://schemas.openxmlformats.org/drawingml/2006/main">
              <a:ext uri="{FF2B5EF4-FFF2-40B4-BE49-F238E27FC236}">
                <a16:creationId xmlns:a16="http://schemas.microsoft.com/office/drawing/2014/main" id="{9DA793A5-48D1-4D64-A482-47B9CAB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12-c3">
            <a:extLst xmlns:a="http://schemas.openxmlformats.org/drawingml/2006/main">
              <a:ext uri="{FF2B5EF4-FFF2-40B4-BE49-F238E27FC236}">
                <a16:creationId xmlns:a16="http://schemas.microsoft.com/office/drawing/2014/main" id="{AD1DF132-9C79-4BFD-B9DD-4DA02CA0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s12-t1">
            <a:extLst xmlns:a="http://schemas.openxmlformats.org/drawingml/2006/main">
              <a:ext uri="{FF2B5EF4-FFF2-40B4-BE49-F238E27FC236}">
                <a16:creationId xmlns:a16="http://schemas.microsoft.com/office/drawing/2014/main" id="{A4373C0E-24EF-4AD7-8371-302ADA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结构化首算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输入 HBM、模型参数、切分策略、Q/S 候选与长度分布，生成首版 frontier。</a:t>
            </a:r>
          </a:p>
        </p:txBody>
      </p:sp>
      <p:sp>
        <p:nvSpPr>
          <p:cNvPr id="10" name="s12-t2">
            <a:extLst xmlns:a="http://schemas.openxmlformats.org/drawingml/2006/main">
              <a:ext uri="{FF2B5EF4-FFF2-40B4-BE49-F238E27FC236}">
                <a16:creationId xmlns:a16="http://schemas.microsoft.com/office/drawing/2014/main" id="{0888B54B-BC20-423E-A180-BBFC156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节点实测校准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解析实际权重与启动 profile；补齐 CANN workspace、ACL Graph 和 non-Torch。</a:t>
            </a:r>
          </a:p>
        </p:txBody>
      </p:sp>
      <p:sp>
        <p:nvSpPr>
          <p:cNvPr id="11" name="s12-t3">
            <a:extLst xmlns:a="http://schemas.openxmlformats.org/drawingml/2006/main">
              <a:ext uri="{FF2B5EF4-FFF2-40B4-BE49-F238E27FC236}">
                <a16:creationId xmlns:a16="http://schemas.microsoft.com/office/drawing/2014/main" id="{2166EE2D-921F-409E-851D-8D625FF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压测与固化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在推荐点及相邻 frontier 点验证 OOM、抢占、TTFT、TPOT 和吞吐，形成规格基线。</a:t>
            </a:r>
          </a:p>
        </p:txBody>
      </p:sp>
      <p:sp>
        <p:nvSpPr>
          <p:cNvPr id="12" name="s12-date1">
            <a:extLst xmlns:a="http://schemas.openxmlformats.org/drawingml/2006/main">
              <a:ext uri="{FF2B5EF4-FFF2-40B4-BE49-F238E27FC236}">
                <a16:creationId xmlns:a16="http://schemas.microsoft.com/office/drawing/2014/main" id="{BC022294-4BB4-4A4B-9D8E-094EB2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分析模型</a:t>
            </a:r>
          </a:p>
        </p:txBody>
      </p:sp>
      <p:sp>
        <p:nvSpPr>
          <p:cNvPr id="13" name="s12-date2">
            <a:extLst xmlns:a="http://schemas.openxmlformats.org/drawingml/2006/main">
              <a:ext uri="{FF2B5EF4-FFF2-40B4-BE49-F238E27FC236}">
                <a16:creationId xmlns:a16="http://schemas.microsoft.com/office/drawing/2014/main" id="{6CC979E8-5EC5-4BE2-9AB3-1A40311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实测校准</a:t>
            </a:r>
          </a:p>
        </p:txBody>
      </p:sp>
      <p:sp>
        <p:nvSpPr>
          <p:cNvPr id="14" name="s12-date3">
            <a:extLst xmlns:a="http://schemas.openxmlformats.org/drawingml/2006/main">
              <a:ext uri="{FF2B5EF4-FFF2-40B4-BE49-F238E27FC236}">
                <a16:creationId xmlns:a16="http://schemas.microsoft.com/office/drawing/2014/main" id="{D69A0466-D714-467E-94D2-832DC8A0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规格发布</a:t>
            </a:r>
          </a:p>
        </p:txBody>
      </p:sp>
      <p:sp>
        <p:nvSpPr>
          <p:cNvPr id="15" name="s12-closing">
            <a:extLst xmlns:a="http://schemas.openxmlformats.org/drawingml/2006/main">
              <a:ext uri="{FF2B5EF4-FFF2-40B4-BE49-F238E27FC236}">
                <a16:creationId xmlns:a16="http://schemas.microsoft.com/office/drawing/2014/main" id="{519B894B-AF04-4679-89D8-7383ED2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最终交付的不只是一个数字，而是</a:t>
            </a:r>
            <a:r>
              <a:rPr sz="22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“推荐值 + 上界 + 余量 + 备选边界 + 数据来源”</a:t>
            </a: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。</a:t>
            </a:r>
          </a:p>
        </p:txBody>
      </p:sp>
      <p:sp>
        <p:nvSpPr>
          <p:cNvPr id="16" name="s12-limit">
            <a:extLst xmlns:a="http://schemas.openxmlformats.org/drawingml/2006/main">
              <a:ext uri="{FF2B5EF4-FFF2-40B4-BE49-F238E27FC236}">
                <a16:creationId xmlns:a16="http://schemas.microsoft.com/office/drawing/2014/main" id="{D6C8ED50-69FD-4AA7-A74C-F45BFA4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当前边界：DeepSeek-V4-Flash 内置 profile；未知 Workspace reserve 是保守占位；推荐器不替代真实业务压测。</a:t>
            </a:r>
          </a:p>
        </p:txBody>
      </p:sp>
      <p:sp>
        <p:nvSpPr>
          <p:cNvPr id="17" name="source-12">
            <a:extLst xmlns:a="http://schemas.openxmlformats.org/drawingml/2006/main">
              <a:ext uri="{FF2B5EF4-FFF2-40B4-BE49-F238E27FC236}">
                <a16:creationId xmlns:a16="http://schemas.microsoft.com/office/drawing/2014/main" id="{DA1B94FF-DFA0-4E7E-B1E2-3F3402F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建议下一步：接入目标 910C 节点启动日志与 CANN workspace 数据，完成模型校准和规格验收</a:t>
            </a:r>
          </a:p>
        </p:txBody>
      </p:sp>
      <p:sp>
        <p:nvSpPr>
          <p:cNvPr id="18" name="page-12">
            <a:extLst xmlns:a="http://schemas.openxmlformats.org/drawingml/2006/main">
              <a:ext uri="{FF2B5EF4-FFF2-40B4-BE49-F238E27FC236}">
                <a16:creationId xmlns:a16="http://schemas.microsoft.com/office/drawing/2014/main" id="{EAC807B5-E55D-4AC5-9CE1-9A7253EE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2237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2026-08-14T07:51:15.1380000Z</dcterms:created>
  <dcterms:modified xsi:type="dcterms:W3CDTF">2026-08-14T07:51:15.1380000Z</dcterms:modified>
</coreProperties>
</file>